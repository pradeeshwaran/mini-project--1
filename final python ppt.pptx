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50" r:id="rId1"/>
  </p:sldMasterIdLst>
  <p:notesMasterIdLst>
    <p:notesMasterId r:id="rId15"/>
  </p:notesMasterIdLst>
  <p:sldIdLst>
    <p:sldId id="256" r:id="rId2"/>
    <p:sldId id="257" r:id="rId3"/>
    <p:sldId id="259" r:id="rId4"/>
    <p:sldId id="258" r:id="rId5"/>
    <p:sldId id="261" r:id="rId6"/>
    <p:sldId id="262" r:id="rId7"/>
    <p:sldId id="263" r:id="rId8"/>
    <p:sldId id="283" r:id="rId9"/>
    <p:sldId id="282" r:id="rId10"/>
    <p:sldId id="278" r:id="rId11"/>
    <p:sldId id="284" r:id="rId12"/>
    <p:sldId id="286" r:id="rId13"/>
    <p:sldId id="277" r:id="rId14"/>
  </p:sldIdLst>
  <p:sldSz cx="9144000" cy="5143500" type="screen16x9"/>
  <p:notesSz cx="9144000" cy="5143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BEC5"/>
    <a:srgbClr val="003100"/>
    <a:srgbClr val="B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5282F153-3F37-0F45-9E97-73ACFA13230C}" type="datetimeFigureOut">
              <a:rPr lang="en-US"/>
              <a:t>7/4/2026</a:t>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D9B2A-A88D-22F3-5CDA-EF33AA9BD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49AAB-1B9B-96BD-1695-4DE1DD0AD9CD}"/>
              </a:ext>
            </a:extLst>
          </p:cNvPr>
          <p:cNvSpPr>
            <a:spLocks noGrp="1" noRot="1" noChangeAspect="1"/>
          </p:cNvSpPr>
          <p:nvPr>
            <p:ph type="sldImg"/>
          </p:nvPr>
        </p:nvSpPr>
        <p:spPr>
          <a:xfrm>
            <a:off x="4552950" y="642938"/>
            <a:ext cx="3086100" cy="1736725"/>
          </a:xfrm>
        </p:spPr>
      </p:sp>
      <p:sp>
        <p:nvSpPr>
          <p:cNvPr id="3" name="Notes Placeholder 2">
            <a:extLst>
              <a:ext uri="{FF2B5EF4-FFF2-40B4-BE49-F238E27FC236}">
                <a16:creationId xmlns:a16="http://schemas.microsoft.com/office/drawing/2014/main" id="{9CE326BB-9631-CEB5-3209-A0689D885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D3D84F-AA79-3F35-797C-C2F72954DD9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3249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58347-2057-07A1-2D0E-CCCD5CCF4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7F744-2598-141B-EEF1-29DA8EBE295E}"/>
              </a:ext>
            </a:extLst>
          </p:cNvPr>
          <p:cNvSpPr>
            <a:spLocks noGrp="1" noRot="1" noChangeAspect="1"/>
          </p:cNvSpPr>
          <p:nvPr>
            <p:ph type="sldImg"/>
          </p:nvPr>
        </p:nvSpPr>
        <p:spPr>
          <a:xfrm>
            <a:off x="4552950" y="642938"/>
            <a:ext cx="3086100" cy="1736725"/>
          </a:xfrm>
        </p:spPr>
      </p:sp>
      <p:sp>
        <p:nvSpPr>
          <p:cNvPr id="3" name="Notes Placeholder 2">
            <a:extLst>
              <a:ext uri="{FF2B5EF4-FFF2-40B4-BE49-F238E27FC236}">
                <a16:creationId xmlns:a16="http://schemas.microsoft.com/office/drawing/2014/main" id="{15848BAC-8B38-8F6C-31E7-B1B5C85FD6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CB80A-DCC1-3ACB-EFD4-1367E6B46A7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37050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1" y="0"/>
            <a:ext cx="1728788" cy="51435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407319" y="841772"/>
            <a:ext cx="6593681" cy="1790700"/>
          </a:xfrm>
        </p:spPr>
        <p:txBody>
          <a:bodyPr anchor="b">
            <a:normAutofit/>
          </a:bodyPr>
          <a:lstStyle>
            <a:lvl1pPr algn="l">
              <a:defRPr sz="3600"/>
            </a:lvl1pPr>
          </a:lstStyle>
          <a:p>
            <a:r>
              <a:rPr lang="en-US"/>
              <a:t>Click to edit Master title style</a:t>
            </a:r>
            <a:endParaRPr lang="en-US" dirty="0"/>
          </a:p>
        </p:txBody>
      </p:sp>
      <p:sp>
        <p:nvSpPr>
          <p:cNvPr id="3" name="Subtitle 2"/>
          <p:cNvSpPr>
            <a:spLocks noGrp="1"/>
          </p:cNvSpPr>
          <p:nvPr>
            <p:ph type="subTitle" idx="1"/>
          </p:nvPr>
        </p:nvSpPr>
        <p:spPr>
          <a:xfrm>
            <a:off x="1407319" y="2701528"/>
            <a:ext cx="6593681" cy="1241822"/>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308133" y="4057651"/>
            <a:ext cx="2057400" cy="273844"/>
          </a:xfrm>
        </p:spPr>
        <p:txBody>
          <a:bodyPr/>
          <a:lstStyle/>
          <a:p>
            <a:fld id="{48A87A34-81AB-432B-8DAE-1953F412C126}" type="datetimeFigureOut">
              <a:rPr lang="en-US" dirty="0"/>
              <a:t>7/4/2026</a:t>
            </a:fld>
            <a:endParaRPr lang="en-US" dirty="0"/>
          </a:p>
        </p:txBody>
      </p:sp>
      <p:sp>
        <p:nvSpPr>
          <p:cNvPr id="5" name="Footer Placeholder 4"/>
          <p:cNvSpPr>
            <a:spLocks noGrp="1"/>
          </p:cNvSpPr>
          <p:nvPr>
            <p:ph type="ftr" sz="quarter" idx="11"/>
          </p:nvPr>
        </p:nvSpPr>
        <p:spPr>
          <a:xfrm>
            <a:off x="1407318" y="4057651"/>
            <a:ext cx="3843665" cy="273844"/>
          </a:xfrm>
        </p:spPr>
        <p:txBody>
          <a:bodyPr/>
          <a:lstStyle/>
          <a:p>
            <a:endParaRPr lang="en-US" dirty="0"/>
          </a:p>
        </p:txBody>
      </p:sp>
      <p:sp>
        <p:nvSpPr>
          <p:cNvPr id="6" name="Slide Number Placeholder 5"/>
          <p:cNvSpPr>
            <a:spLocks noGrp="1"/>
          </p:cNvSpPr>
          <p:nvPr>
            <p:ph type="sldNum" sz="quarter" idx="12"/>
          </p:nvPr>
        </p:nvSpPr>
        <p:spPr>
          <a:xfrm>
            <a:off x="7422684" y="4057650"/>
            <a:ext cx="578317" cy="273844"/>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5793520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141468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064420"/>
            <a:ext cx="7429500" cy="2139553"/>
          </a:xfrm>
        </p:spPr>
        <p:txBody>
          <a:bodyPr anchor="b">
            <a:normAutofit/>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56058" y="3318272"/>
            <a:ext cx="7429500" cy="1031082"/>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7938691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1687114"/>
            <a:ext cx="3658792"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1687114"/>
            <a:ext cx="3656408"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26462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464345"/>
            <a:ext cx="7429500" cy="110847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7515" y="1687115"/>
            <a:ext cx="3487337"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6058" y="2305048"/>
            <a:ext cx="3658793"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0606" y="1687114"/>
            <a:ext cx="3484952"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305048"/>
            <a:ext cx="3656408"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7841596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478496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0340605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457201"/>
            <a:ext cx="2892028" cy="1229913"/>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67150" y="444499"/>
            <a:ext cx="4418407" cy="38989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1687114"/>
            <a:ext cx="2892028"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424996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0"/>
            <a:ext cx="4450881" cy="122991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5541" y="457201"/>
            <a:ext cx="2750018" cy="38861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6058" y="1687114"/>
            <a:ext cx="4450883"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455721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3228499"/>
            <a:ext cx="7434266" cy="614516"/>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454819"/>
            <a:ext cx="7434266" cy="24748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3843015"/>
            <a:ext cx="7433144" cy="511854"/>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320986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457200"/>
            <a:ext cx="7429466" cy="2571750"/>
          </a:xfrm>
        </p:spPr>
        <p:txBody>
          <a:bodyPr anchor="ctr">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856058" y="3314700"/>
            <a:ext cx="7428344" cy="1028699"/>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063740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061322"/>
          </a:xfrm>
        </p:spPr>
        <p:txBody>
          <a:bodyPr anchor="ctr">
            <a:normAutofit/>
          </a:bodyPr>
          <a:lstStyle>
            <a:lvl1pPr>
              <a:defRPr sz="27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856058" y="3232439"/>
            <a:ext cx="7429502" cy="1117122"/>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677634" y="54929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61" name="TextBox 60"/>
          <p:cNvSpPr txBox="1"/>
          <p:nvPr/>
        </p:nvSpPr>
        <p:spPr>
          <a:xfrm>
            <a:off x="7903028" y="207372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0164179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1600531"/>
            <a:ext cx="7429501" cy="1883876"/>
          </a:xfrm>
        </p:spPr>
        <p:txBody>
          <a:bodyPr anchor="b">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856023" y="3493241"/>
            <a:ext cx="7428379" cy="855483"/>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4783550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457200"/>
            <a:ext cx="7429499" cy="14287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005847"/>
            <a:ext cx="2397674"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845939" y="2520197"/>
            <a:ext cx="2406551"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86075" y="2008226"/>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78160" y="2522576"/>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89332" y="2005847"/>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889332" y="2520197"/>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498474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457200"/>
            <a:ext cx="7429499" cy="14287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3303447"/>
            <a:ext cx="239643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856060" y="2000249"/>
            <a:ext cx="2396430"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3735644"/>
            <a:ext cx="2396430" cy="61338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66790" y="3303447"/>
            <a:ext cx="240030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366790" y="2000249"/>
            <a:ext cx="2399205"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3735643"/>
            <a:ext cx="2400300" cy="60775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89426" y="3303446"/>
            <a:ext cx="2393056"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89332" y="2000249"/>
            <a:ext cx="2396227"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3735641"/>
            <a:ext cx="2396226" cy="60775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30010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6264788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457200"/>
            <a:ext cx="1503758" cy="38862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457200"/>
            <a:ext cx="5811443" cy="3886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34620942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8239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0716" y="0"/>
            <a:ext cx="9040416" cy="51435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463888"/>
            <a:ext cx="7429499" cy="1108928"/>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1687115"/>
            <a:ext cx="7429499" cy="26562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4412457"/>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48A87A34-81AB-432B-8DAE-1953F412C126}" type="datetimeFigureOut">
              <a:rPr lang="en-US" dirty="0"/>
              <a:pPr/>
              <a:t>7/4/2026</a:t>
            </a:fld>
            <a:endParaRPr lang="en-US" dirty="0"/>
          </a:p>
        </p:txBody>
      </p:sp>
      <p:sp>
        <p:nvSpPr>
          <p:cNvPr id="5" name="Footer Placeholder 4"/>
          <p:cNvSpPr>
            <a:spLocks noGrp="1"/>
          </p:cNvSpPr>
          <p:nvPr>
            <p:ph type="ftr" sz="quarter" idx="3"/>
          </p:nvPr>
        </p:nvSpPr>
        <p:spPr>
          <a:xfrm>
            <a:off x="856059" y="4412457"/>
            <a:ext cx="4679482" cy="273844"/>
          </a:xfrm>
          <a:prstGeom prst="rect">
            <a:avLst/>
          </a:prstGeom>
        </p:spPr>
        <p:txBody>
          <a:bodyPr vert="horz" lIns="91440" tIns="45720" rIns="91440" bIns="45720" rtlCol="0" anchor="ctr"/>
          <a:lstStyle>
            <a:lvl1pPr algn="l">
              <a:defRPr sz="788"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4412456"/>
            <a:ext cx="578317"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952733091"/>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05740" y="-59839"/>
            <a:ext cx="9144000" cy="5143500"/>
          </a:xfrm>
          <a:prstGeom prst="rect">
            <a:avLst/>
          </a:prstGeom>
          <a:solidFill>
            <a:srgbClr val="0A1F2E"/>
          </a:solidFill>
        </p:spPr>
      </p:sp>
      <p:sp>
        <p:nvSpPr>
          <p:cNvPr id="3" name="Shape 1"/>
          <p:cNvSpPr/>
          <p:nvPr/>
        </p:nvSpPr>
        <p:spPr>
          <a:xfrm>
            <a:off x="0" y="0"/>
            <a:ext cx="411480" cy="5143500"/>
          </a:xfrm>
          <a:prstGeom prst="rect">
            <a:avLst/>
          </a:prstGeom>
          <a:solidFill>
            <a:srgbClr val="00796B"/>
          </a:solidFill>
        </p:spPr>
      </p:sp>
      <p:sp>
        <p:nvSpPr>
          <p:cNvPr id="4" name="Shape 2"/>
          <p:cNvSpPr/>
          <p:nvPr/>
        </p:nvSpPr>
        <p:spPr>
          <a:xfrm>
            <a:off x="8732520" y="0"/>
            <a:ext cx="411480" cy="5143500"/>
          </a:xfrm>
          <a:prstGeom prst="rect">
            <a:avLst/>
          </a:prstGeom>
          <a:solidFill>
            <a:srgbClr val="FFB300"/>
          </a:solidFill>
        </p:spPr>
      </p:sp>
      <p:sp>
        <p:nvSpPr>
          <p:cNvPr id="5" name="Shape 3"/>
          <p:cNvSpPr/>
          <p:nvPr/>
        </p:nvSpPr>
        <p:spPr>
          <a:xfrm>
            <a:off x="5486400" y="-1097280"/>
            <a:ext cx="5029200" cy="5029200"/>
          </a:xfrm>
          <a:prstGeom prst="ellipse">
            <a:avLst/>
          </a:prstGeom>
          <a:solidFill>
            <a:srgbClr val="00796B">
              <a:alpha val="12000"/>
            </a:srgbClr>
          </a:solidFill>
          <a:ln w="12700">
            <a:solidFill>
              <a:srgbClr val="00796B"/>
            </a:solidFill>
            <a:prstDash val="solid"/>
          </a:ln>
        </p:spPr>
        <p:txBody>
          <a:bodyPr/>
          <a:lstStyle/>
          <a:p>
            <a:endParaRPr lang="en-IN" dirty="0"/>
          </a:p>
        </p:txBody>
      </p:sp>
      <p:sp>
        <p:nvSpPr>
          <p:cNvPr id="6" name="Shape 4"/>
          <p:cNvSpPr/>
          <p:nvPr/>
        </p:nvSpPr>
        <p:spPr>
          <a:xfrm>
            <a:off x="6858000" y="3200400"/>
            <a:ext cx="2743200" cy="2743200"/>
          </a:xfrm>
          <a:prstGeom prst="ellipse">
            <a:avLst/>
          </a:prstGeom>
          <a:solidFill>
            <a:srgbClr val="26A69A">
              <a:alpha val="10000"/>
            </a:srgbClr>
          </a:solidFill>
          <a:ln w="12700">
            <a:solidFill>
              <a:srgbClr val="26A69A"/>
            </a:solidFill>
            <a:prstDash val="solid"/>
          </a:ln>
        </p:spPr>
      </p:sp>
      <p:sp>
        <p:nvSpPr>
          <p:cNvPr id="7" name="Text 5"/>
          <p:cNvSpPr/>
          <p:nvPr/>
        </p:nvSpPr>
        <p:spPr>
          <a:xfrm>
            <a:off x="411480" y="676422"/>
            <a:ext cx="8805789" cy="1011219"/>
          </a:xfrm>
          <a:prstGeom prst="rect">
            <a:avLst/>
          </a:prstGeom>
          <a:noFill/>
        </p:spPr>
        <p:txBody>
          <a:bodyPr wrap="square" lIns="0" tIns="0" rIns="0" bIns="0" rtlCol="0" anchor="ctr"/>
          <a:lstStyle/>
          <a:p>
            <a:r>
              <a:rPr lang="en-IN" sz="5400" b="1" dirty="0"/>
              <a:t>PERSONAL HEALTH MONITOR </a:t>
            </a:r>
            <a:endParaRPr lang="en-US" sz="5200" b="1" dirty="0"/>
          </a:p>
        </p:txBody>
      </p:sp>
      <p:sp>
        <p:nvSpPr>
          <p:cNvPr id="8" name="Text 6"/>
          <p:cNvSpPr/>
          <p:nvPr/>
        </p:nvSpPr>
        <p:spPr>
          <a:xfrm>
            <a:off x="584395" y="1621060"/>
            <a:ext cx="7772400" cy="822960"/>
          </a:xfrm>
          <a:prstGeom prst="rect">
            <a:avLst/>
          </a:prstGeom>
          <a:noFill/>
        </p:spPr>
        <p:txBody>
          <a:bodyPr wrap="square" lIns="0" tIns="0" rIns="0" bIns="0" rtlCol="0" anchor="ctr"/>
          <a:lstStyle/>
          <a:p>
            <a:r>
              <a:rPr lang="en-US" sz="5200" b="1" kern="0" spc="400" dirty="0">
                <a:solidFill>
                  <a:srgbClr val="FFB300"/>
                </a:solidFill>
                <a:latin typeface="Trebuchet MS" panose="020B0703020202090204" pitchFamily="34" charset="0"/>
                <a:ea typeface="Trebuchet MS" panose="020B0703020202090204" pitchFamily="34" charset="-122"/>
                <a:cs typeface="Trebuchet MS" panose="020B0703020202090204" pitchFamily="34" charset="-120"/>
              </a:rPr>
              <a:t>&amp; </a:t>
            </a:r>
            <a:r>
              <a:rPr lang="en-US" sz="5200" b="1" kern="0" spc="400" dirty="0">
                <a:solidFill>
                  <a:srgbClr val="FFB300"/>
                </a:solidFill>
                <a:latin typeface="Trebuchet MS" panose="020B0703020202090204" pitchFamily="34" charset="0"/>
              </a:rPr>
              <a:t>RISK PREDICTOR </a:t>
            </a:r>
          </a:p>
        </p:txBody>
      </p:sp>
      <p:sp>
        <p:nvSpPr>
          <p:cNvPr id="10" name="Shape 8"/>
          <p:cNvSpPr/>
          <p:nvPr/>
        </p:nvSpPr>
        <p:spPr>
          <a:xfrm>
            <a:off x="731520" y="3246120"/>
            <a:ext cx="2743200" cy="45720"/>
          </a:xfrm>
          <a:prstGeom prst="rect">
            <a:avLst/>
          </a:prstGeom>
          <a:solidFill>
            <a:srgbClr val="26A69A"/>
          </a:solidFill>
        </p:spPr>
      </p:sp>
      <p:sp>
        <p:nvSpPr>
          <p:cNvPr id="11" name="Text 9"/>
          <p:cNvSpPr/>
          <p:nvPr/>
        </p:nvSpPr>
        <p:spPr>
          <a:xfrm>
            <a:off x="731520" y="3429000"/>
            <a:ext cx="4572000" cy="1463040"/>
          </a:xfrm>
          <a:prstGeom prst="rect">
            <a:avLst/>
          </a:prstGeom>
          <a:noFill/>
        </p:spPr>
        <p:txBody>
          <a:bodyPr wrap="square" lIns="0" tIns="0" rIns="0" bIns="0" rtlCol="0" anchor="ctr"/>
          <a:lstStyle/>
          <a:p>
            <a:pPr marL="0" indent="0">
              <a:buNone/>
            </a:pPr>
            <a:r>
              <a:rPr lang="en-US" sz="1200" b="1" dirty="0">
                <a:solidFill>
                  <a:srgbClr val="FFB300"/>
                </a:solidFill>
                <a:latin typeface="Calibri" pitchFamily="34" charset="0"/>
                <a:ea typeface="Calibri" pitchFamily="34" charset="-122"/>
                <a:cs typeface="Calibri" pitchFamily="34" charset="-120"/>
              </a:rPr>
              <a:t>TEAM MEMBERS:
</a:t>
            </a:r>
            <a:endParaRPr lang="en-US" sz="1200" dirty="0"/>
          </a:p>
          <a:p>
            <a:pPr marL="0" indent="0">
              <a:buNone/>
            </a:pPr>
            <a:r>
              <a:rPr lang="en-US" sz="1100" dirty="0" err="1">
                <a:solidFill>
                  <a:srgbClr val="B0BEC5"/>
                </a:solidFill>
                <a:latin typeface="Calibri" pitchFamily="34" charset="0"/>
                <a:ea typeface="Calibri" pitchFamily="34" charset="-122"/>
                <a:cs typeface="Calibri" pitchFamily="34" charset="-120"/>
              </a:rPr>
              <a:t>Pradeeshwaran</a:t>
            </a:r>
            <a:r>
              <a:rPr lang="en-US" sz="1100" dirty="0">
                <a:solidFill>
                  <a:srgbClr val="B0BEC5"/>
                </a:solidFill>
                <a:latin typeface="Calibri" pitchFamily="34" charset="0"/>
                <a:ea typeface="Calibri" pitchFamily="34" charset="-122"/>
                <a:cs typeface="Calibri" pitchFamily="34" charset="-120"/>
              </a:rPr>
              <a:t> R-24D225</a:t>
            </a:r>
          </a:p>
          <a:p>
            <a:pPr marL="0" indent="0">
              <a:buNone/>
            </a:pPr>
            <a:r>
              <a:rPr lang="en-US" sz="1100" dirty="0">
                <a:solidFill>
                  <a:srgbClr val="B0BEC5"/>
                </a:solidFill>
                <a:latin typeface="Calibri" pitchFamily="34" charset="0"/>
                <a:ea typeface="Calibri" pitchFamily="34" charset="-122"/>
                <a:cs typeface="Calibri" pitchFamily="34" charset="-120"/>
              </a:rPr>
              <a:t>Gokul Krishnan -25D432</a:t>
            </a:r>
          </a:p>
          <a:p>
            <a:pPr marL="0" indent="0">
              <a:buNone/>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INTRODUCTION</a:t>
            </a:r>
            <a:endParaRPr lang="en-US" sz="2200" dirty="0"/>
          </a:p>
        </p:txBody>
      </p:sp>
      <p:sp>
        <p:nvSpPr>
          <p:cNvPr id="5" name="Shape 3"/>
          <p:cNvSpPr/>
          <p:nvPr/>
        </p:nvSpPr>
        <p:spPr>
          <a:xfrm>
            <a:off x="0" y="4892040"/>
            <a:ext cx="9144000" cy="251460"/>
          </a:xfrm>
          <a:prstGeom prst="rect">
            <a:avLst/>
          </a:prstGeom>
          <a:solidFill>
            <a:srgbClr val="00796B"/>
          </a:solidFill>
        </p:spPr>
      </p:sp>
      <p:sp>
        <p:nvSpPr>
          <p:cNvPr id="7" name="Text 5"/>
          <p:cNvSpPr/>
          <p:nvPr/>
        </p:nvSpPr>
        <p:spPr>
          <a:xfrm>
            <a:off x="502920" y="1140587"/>
            <a:ext cx="8412480" cy="411480"/>
          </a:xfrm>
          <a:prstGeom prst="rect">
            <a:avLst/>
          </a:prstGeom>
          <a:noFill/>
        </p:spPr>
        <p:txBody>
          <a:bodyPr wrap="square" lIns="0" tIns="0" rIns="0" bIns="0" rtlCol="0" anchor="ctr"/>
          <a:lstStyle/>
          <a:p>
            <a:r>
              <a:rPr lang="en-US" b="1" kern="0" spc="400" dirty="0">
                <a:solidFill>
                  <a:schemeClr val="bg2">
                    <a:lumMod val="75000"/>
                  </a:schemeClr>
                </a:solidFill>
                <a:latin typeface="Trebuchet MS" panose="020B0703020202090204" pitchFamily="34" charset="0"/>
                <a:ea typeface="Trebuchet MS" panose="020B0703020202090204" pitchFamily="34" charset="-122"/>
                <a:cs typeface="Trebuchet MS" panose="020B0703020202090204" pitchFamily="34" charset="-120"/>
              </a:rPr>
              <a:t>DIGITAL HEALTH </a:t>
            </a:r>
          </a:p>
          <a:p>
            <a:r>
              <a:rPr lang="en-US" b="1" kern="0" spc="400" dirty="0">
                <a:solidFill>
                  <a:schemeClr val="bg2">
                    <a:lumMod val="75000"/>
                  </a:schemeClr>
                </a:solidFill>
                <a:latin typeface="Trebuchet MS" panose="020B0703020202090204" pitchFamily="34" charset="0"/>
                <a:ea typeface="Trebuchet MS" panose="020B0703020202090204" pitchFamily="34" charset="-122"/>
                <a:cs typeface="Trebuchet MS" panose="020B0703020202090204" pitchFamily="34" charset="-120"/>
              </a:rPr>
              <a:t>MONITOR</a:t>
            </a:r>
          </a:p>
          <a:p>
            <a:pPr marL="0" indent="0">
              <a:buNone/>
            </a:pPr>
            <a:endParaRPr lang="en-US" sz="1800" dirty="0"/>
          </a:p>
        </p:txBody>
      </p:sp>
      <p:sp>
        <p:nvSpPr>
          <p:cNvPr id="8" name="Text 6"/>
          <p:cNvSpPr/>
          <p:nvPr/>
        </p:nvSpPr>
        <p:spPr>
          <a:xfrm>
            <a:off x="560743" y="847979"/>
            <a:ext cx="8412480" cy="2848610"/>
          </a:xfrm>
          <a:prstGeom prst="rect">
            <a:avLst/>
          </a:prstGeom>
          <a:noFill/>
        </p:spPr>
        <p:txBody>
          <a:bodyPr wrap="square" lIns="0" tIns="0" rIns="0" bIns="0" rtlCol="0" anchor="ctr"/>
          <a:lstStyle/>
          <a:p>
            <a:pPr>
              <a:lnSpc>
                <a:spcPct val="135000"/>
              </a:lnSpc>
            </a:pPr>
            <a:r>
              <a:rPr lang="en-US" sz="1400" dirty="0">
                <a:solidFill>
                  <a:schemeClr val="bg2">
                    <a:lumMod val="75000"/>
                  </a:schemeClr>
                </a:solidFill>
              </a:rPr>
              <a:t>Healthcare monitoring is an important part of maintaining a healthy lifestyle. Many health problems today are caused by poor daily habits such as lack of sleep, low water intake, lack of exercise, and irregular body conditions like abnormal heart rate or BMI. Early identification of these factors can help in preventing serious diseases.</a:t>
            </a:r>
            <a:r>
              <a:rPr lang="en-US" altLang="en-US" sz="1400" dirty="0">
                <a:solidFill>
                  <a:schemeClr val="bg2">
                    <a:lumMod val="75000"/>
                  </a:schemeClr>
                </a:solidFill>
              </a:rPr>
              <a:t>.</a:t>
            </a:r>
          </a:p>
        </p:txBody>
      </p:sp>
      <p:sp>
        <p:nvSpPr>
          <p:cNvPr id="11" name="Text 9"/>
          <p:cNvSpPr/>
          <p:nvPr/>
        </p:nvSpPr>
        <p:spPr>
          <a:xfrm>
            <a:off x="613186" y="4039489"/>
            <a:ext cx="2377440" cy="256032"/>
          </a:xfrm>
          <a:prstGeom prst="rect">
            <a:avLst/>
          </a:prstGeom>
          <a:noFill/>
        </p:spPr>
        <p:txBody>
          <a:bodyPr wrap="square" lIns="0" tIns="0" rIns="0" bIns="0" rtlCol="0" anchor="ctr"/>
          <a:lstStyle/>
          <a:p>
            <a:pPr marL="0" indent="0" algn="ctr">
              <a:buNone/>
            </a:pPr>
            <a:endParaRPr lang="en-US" sz="1000" dirty="0"/>
          </a:p>
        </p:txBody>
      </p:sp>
      <p:sp>
        <p:nvSpPr>
          <p:cNvPr id="14" name="Text 12"/>
          <p:cNvSpPr/>
          <p:nvPr/>
        </p:nvSpPr>
        <p:spPr>
          <a:xfrm>
            <a:off x="3108960" y="4389120"/>
            <a:ext cx="2377440" cy="256032"/>
          </a:xfrm>
          <a:prstGeom prst="rect">
            <a:avLst/>
          </a:prstGeom>
          <a:noFill/>
        </p:spPr>
        <p:txBody>
          <a:bodyPr wrap="square" lIns="0" tIns="0" rIns="0" bIns="0" rtlCol="0" anchor="ctr"/>
          <a:lstStyle/>
          <a:p>
            <a:pPr marL="0" indent="0" algn="ctr">
              <a:buNone/>
            </a:pPr>
            <a:endParaRPr lang="en-US" sz="1000" dirty="0"/>
          </a:p>
        </p:txBody>
      </p:sp>
      <p:sp>
        <p:nvSpPr>
          <p:cNvPr id="17" name="Text 15"/>
          <p:cNvSpPr/>
          <p:nvPr/>
        </p:nvSpPr>
        <p:spPr>
          <a:xfrm>
            <a:off x="5806440" y="4389120"/>
            <a:ext cx="2926080" cy="256032"/>
          </a:xfrm>
          <a:prstGeom prst="rect">
            <a:avLst/>
          </a:prstGeom>
          <a:noFill/>
        </p:spPr>
        <p:txBody>
          <a:bodyPr wrap="square" lIns="0" tIns="0" rIns="0" bIns="0" rtlCol="0" anchor="ctr"/>
          <a:lstStyle/>
          <a:p>
            <a:pPr marL="0" indent="0" algn="ctr">
              <a:buNone/>
            </a:pPr>
            <a:endParaRPr lang="en-US" sz="1000" dirty="0"/>
          </a:p>
        </p:txBody>
      </p:sp>
      <p:sp>
        <p:nvSpPr>
          <p:cNvPr id="10" name="TextBox 9">
            <a:extLst>
              <a:ext uri="{FF2B5EF4-FFF2-40B4-BE49-F238E27FC236}">
                <a16:creationId xmlns:a16="http://schemas.microsoft.com/office/drawing/2014/main" id="{A17EDA36-5F35-9A0F-E772-FC18C49BD425}"/>
              </a:ext>
            </a:extLst>
          </p:cNvPr>
          <p:cNvSpPr txBox="1"/>
          <p:nvPr/>
        </p:nvSpPr>
        <p:spPr>
          <a:xfrm>
            <a:off x="502920" y="2922012"/>
            <a:ext cx="7672892" cy="954107"/>
          </a:xfrm>
          <a:prstGeom prst="rect">
            <a:avLst/>
          </a:prstGeom>
          <a:noFill/>
        </p:spPr>
        <p:txBody>
          <a:bodyPr wrap="square">
            <a:spAutoFit/>
          </a:bodyPr>
          <a:lstStyle/>
          <a:p>
            <a:r>
              <a:rPr lang="en-US" sz="1400" dirty="0">
                <a:solidFill>
                  <a:schemeClr val="bg2">
                    <a:lumMod val="75000"/>
                  </a:schemeClr>
                </a:solidFill>
              </a:rPr>
              <a:t>This project, </a:t>
            </a:r>
            <a:r>
              <a:rPr lang="en-US" sz="1400" b="1" dirty="0">
                <a:solidFill>
                  <a:schemeClr val="bg2">
                    <a:lumMod val="75000"/>
                  </a:schemeClr>
                </a:solidFill>
              </a:rPr>
              <a:t>“Personal Health Monitor &amp; Risk Predictor using Python,”</a:t>
            </a:r>
            <a:r>
              <a:rPr lang="en-US" sz="1400" dirty="0">
                <a:solidFill>
                  <a:schemeClr val="bg2">
                    <a:lumMod val="75000"/>
                  </a:schemeClr>
                </a:solidFill>
              </a:rPr>
              <a:t> is designed to provide a simple solution for basic health assessment. The system collects patient details and lifestyle data, calculates a health score, and predicts the risk level as Low, Medium, or High. It also provides useful health suggestions based on the input values.</a:t>
            </a:r>
            <a:endParaRPr lang="en-IN" sz="1400" dirty="0">
              <a:solidFill>
                <a:schemeClr val="bg2">
                  <a:lumMod val="75000"/>
                </a:schemeClr>
              </a:solidFill>
            </a:endParaRPr>
          </a:p>
        </p:txBody>
      </p:sp>
      <p:sp>
        <p:nvSpPr>
          <p:cNvPr id="13" name="TextBox 12">
            <a:extLst>
              <a:ext uri="{FF2B5EF4-FFF2-40B4-BE49-F238E27FC236}">
                <a16:creationId xmlns:a16="http://schemas.microsoft.com/office/drawing/2014/main" id="{78F426A2-7A3C-3141-255F-2DEF80232538}"/>
              </a:ext>
            </a:extLst>
          </p:cNvPr>
          <p:cNvSpPr txBox="1"/>
          <p:nvPr/>
        </p:nvSpPr>
        <p:spPr>
          <a:xfrm>
            <a:off x="281044" y="4913786"/>
            <a:ext cx="4578722" cy="230832"/>
          </a:xfrm>
          <a:prstGeom prst="rect">
            <a:avLst/>
          </a:prstGeom>
          <a:noFill/>
        </p:spPr>
        <p:txBody>
          <a:bodyPr wrap="square">
            <a:spAutoFit/>
          </a:bodyPr>
          <a:lstStyle/>
          <a:p>
            <a:r>
              <a:rPr lang="en-US" sz="900" i="1" dirty="0">
                <a:solidFill>
                  <a:srgbClr val="FFFFFF"/>
                </a:solidFill>
                <a:latin typeface="Calibri" pitchFamily="34" charset="0"/>
                <a:ea typeface="Calibri" pitchFamily="34" charset="-122"/>
                <a:cs typeface="Calibri" pitchFamily="34" charset="-120"/>
              </a:rPr>
              <a:t>Personal Health  Monitor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2E"/>
          </a:solidFill>
        </p:spPr>
      </p:sp>
      <p:sp>
        <p:nvSpPr>
          <p:cNvPr id="3" name="Shape 1"/>
          <p:cNvSpPr/>
          <p:nvPr/>
        </p:nvSpPr>
        <p:spPr>
          <a:xfrm>
            <a:off x="0" y="0"/>
            <a:ext cx="320040" cy="5143500"/>
          </a:xfrm>
          <a:prstGeom prst="rect">
            <a:avLst/>
          </a:prstGeom>
          <a:solidFill>
            <a:srgbClr val="00796B"/>
          </a:solidFill>
        </p:spPr>
      </p:sp>
      <p:sp>
        <p:nvSpPr>
          <p:cNvPr id="4" name="Shape 2"/>
          <p:cNvSpPr/>
          <p:nvPr/>
        </p:nvSpPr>
        <p:spPr>
          <a:xfrm>
            <a:off x="8823960" y="0"/>
            <a:ext cx="320040" cy="5143500"/>
          </a:xfrm>
          <a:prstGeom prst="rect">
            <a:avLst/>
          </a:prstGeom>
          <a:solidFill>
            <a:srgbClr val="FFB300"/>
          </a:solidFill>
        </p:spPr>
      </p:sp>
      <p:sp>
        <p:nvSpPr>
          <p:cNvPr id="5" name="Shape 3"/>
          <p:cNvSpPr/>
          <p:nvPr/>
        </p:nvSpPr>
        <p:spPr>
          <a:xfrm>
            <a:off x="6858000" y="-731520"/>
            <a:ext cx="3200400" cy="3200400"/>
          </a:xfrm>
          <a:prstGeom prst="ellipse">
            <a:avLst/>
          </a:prstGeom>
          <a:solidFill>
            <a:srgbClr val="00796B">
              <a:alpha val="18000"/>
            </a:srgbClr>
          </a:solidFill>
          <a:ln w="12700">
            <a:solidFill>
              <a:srgbClr val="00796B"/>
            </a:solidFill>
            <a:prstDash val="solid"/>
          </a:ln>
        </p:spPr>
      </p:sp>
      <p:sp>
        <p:nvSpPr>
          <p:cNvPr id="6" name="Shape 4"/>
          <p:cNvSpPr/>
          <p:nvPr/>
        </p:nvSpPr>
        <p:spPr>
          <a:xfrm>
            <a:off x="7772400" y="2926080"/>
            <a:ext cx="2286000" cy="2286000"/>
          </a:xfrm>
          <a:prstGeom prst="ellipse">
            <a:avLst/>
          </a:prstGeom>
          <a:solidFill>
            <a:srgbClr val="26A69A">
              <a:alpha val="15000"/>
            </a:srgbClr>
          </a:solidFill>
          <a:ln w="12700">
            <a:solidFill>
              <a:srgbClr val="26A69A"/>
            </a:solidFill>
            <a:prstDash val="solid"/>
          </a:ln>
        </p:spPr>
      </p:sp>
      <p:sp>
        <p:nvSpPr>
          <p:cNvPr id="7" name="Text 5"/>
          <p:cNvSpPr/>
          <p:nvPr/>
        </p:nvSpPr>
        <p:spPr>
          <a:xfrm>
            <a:off x="640080" y="498475"/>
            <a:ext cx="6858000" cy="1097280"/>
          </a:xfrm>
          <a:prstGeom prst="rect">
            <a:avLst/>
          </a:prstGeom>
          <a:noFill/>
        </p:spPr>
        <p:txBody>
          <a:bodyPr wrap="square" lIns="0" tIns="0" rIns="0" bIns="0" rtlCol="0" anchor="ctr"/>
          <a:lstStyle/>
          <a:p>
            <a:pPr marL="0" indent="0" algn="l">
              <a:buNone/>
            </a:pPr>
            <a:r>
              <a:rPr lang="en-US" sz="4000" b="1" kern="0" spc="150"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PROBLEM STATEMENT</a:t>
            </a:r>
            <a:endParaRPr lang="en-US" sz="4000" dirty="0"/>
          </a:p>
        </p:txBody>
      </p:sp>
      <p:sp>
        <p:nvSpPr>
          <p:cNvPr id="8" name="Text 6"/>
          <p:cNvSpPr/>
          <p:nvPr/>
        </p:nvSpPr>
        <p:spPr>
          <a:xfrm>
            <a:off x="640080" y="1758950"/>
            <a:ext cx="6858000" cy="457200"/>
          </a:xfrm>
          <a:prstGeom prst="rect">
            <a:avLst/>
          </a:prstGeom>
          <a:noFill/>
        </p:spPr>
        <p:txBody>
          <a:bodyPr wrap="square" lIns="0" tIns="0" rIns="0" bIns="0" rtlCol="0" anchor="ctr"/>
          <a:lstStyle/>
          <a:p>
            <a:pPr marL="0" indent="0" algn="l">
              <a:buNone/>
            </a:pPr>
            <a:r>
              <a:rPr lang="en-US" sz="1600" dirty="0">
                <a:solidFill>
                  <a:srgbClr val="26A69A"/>
                </a:solidFill>
                <a:latin typeface="Calibri" pitchFamily="34" charset="0"/>
                <a:ea typeface="Calibri" pitchFamily="34" charset="-122"/>
                <a:cs typeface="Calibri" pitchFamily="34" charset="-120"/>
              </a:rPr>
              <a:t>Defining the Core Research Challenge</a:t>
            </a:r>
            <a:endParaRPr lang="en-US" sz="1600" dirty="0"/>
          </a:p>
        </p:txBody>
      </p:sp>
      <p:sp>
        <p:nvSpPr>
          <p:cNvPr id="9" name="Text 7"/>
          <p:cNvSpPr/>
          <p:nvPr/>
        </p:nvSpPr>
        <p:spPr>
          <a:xfrm>
            <a:off x="700405" y="2468880"/>
            <a:ext cx="7597775" cy="2045335"/>
          </a:xfrm>
          <a:prstGeom prst="rect">
            <a:avLst/>
          </a:prstGeom>
          <a:noFill/>
        </p:spPr>
        <p:txBody>
          <a:bodyPr wrap="square" lIns="0" tIns="0" rIns="0" bIns="0" rtlCol="0" anchor="ctr"/>
          <a:lstStyle/>
          <a:p>
            <a:pPr>
              <a:lnSpc>
                <a:spcPct val="130000"/>
              </a:lnSpc>
            </a:pPr>
            <a:r>
              <a:rPr lang="en-US" sz="1300" i="1" dirty="0">
                <a:solidFill>
                  <a:srgbClr val="B0BEC5"/>
                </a:solidFill>
                <a:latin typeface="Calibri" pitchFamily="34" charset="0"/>
                <a:ea typeface="Calibri" pitchFamily="34" charset="-122"/>
                <a:cs typeface="Calibri" pitchFamily="34" charset="-120"/>
              </a:rPr>
              <a:t>The problem is to develop a simple, user-friendly system that can:</a:t>
            </a:r>
          </a:p>
          <a:p>
            <a:pPr marL="0" indent="0">
              <a:lnSpc>
                <a:spcPct val="130000"/>
              </a:lnSpc>
              <a:buNone/>
            </a:pPr>
            <a:r>
              <a:rPr lang="en-US" altLang="en-US" sz="1300" i="1" dirty="0">
                <a:solidFill>
                  <a:srgbClr val="B0BEC5"/>
                </a:solidFill>
                <a:latin typeface="Calibri" pitchFamily="34" charset="0"/>
                <a:ea typeface="Calibri" pitchFamily="34" charset="-122"/>
                <a:cs typeface="Calibri" pitchFamily="34" charset="-120"/>
              </a:rPr>
              <a:t> </a:t>
            </a:r>
          </a:p>
          <a:p>
            <a:pPr>
              <a:lnSpc>
                <a:spcPct val="130000"/>
              </a:lnSpc>
            </a:pPr>
            <a:r>
              <a:rPr lang="en-US" altLang="en-US" sz="1300" i="1" dirty="0">
                <a:solidFill>
                  <a:srgbClr val="B0BEC5"/>
                </a:solidFill>
                <a:latin typeface="Calibri" pitchFamily="34" charset="0"/>
                <a:ea typeface="Calibri" pitchFamily="34" charset="-122"/>
                <a:cs typeface="Calibri" pitchFamily="34" charset="-120"/>
              </a:rPr>
              <a:t>  ➢  </a:t>
            </a:r>
            <a:r>
              <a:rPr lang="en-US" sz="1300" i="1" dirty="0">
                <a:solidFill>
                  <a:srgbClr val="B0BEC5"/>
                </a:solidFill>
                <a:latin typeface="Calibri" pitchFamily="34" charset="0"/>
                <a:ea typeface="Calibri" pitchFamily="34" charset="-122"/>
                <a:cs typeface="Calibri" pitchFamily="34" charset="-120"/>
              </a:rPr>
              <a:t>Collect basic patient and lifestyle data.</a:t>
            </a:r>
            <a:endParaRPr lang="en-US" altLang="en-US" sz="1300" i="1" dirty="0">
              <a:solidFill>
                <a:srgbClr val="B0BEC5"/>
              </a:solidFill>
              <a:latin typeface="Calibri" pitchFamily="34" charset="0"/>
              <a:ea typeface="Calibri" pitchFamily="34" charset="-122"/>
              <a:cs typeface="Calibri" pitchFamily="34" charset="-120"/>
            </a:endParaRPr>
          </a:p>
          <a:p>
            <a:pPr>
              <a:lnSpc>
                <a:spcPct val="130000"/>
              </a:lnSpc>
            </a:pPr>
            <a:r>
              <a:rPr lang="en-US" altLang="en-US" sz="1300" i="1" dirty="0">
                <a:solidFill>
                  <a:srgbClr val="B0BEC5"/>
                </a:solidFill>
                <a:latin typeface="Calibri" pitchFamily="34" charset="0"/>
                <a:ea typeface="Calibri" pitchFamily="34" charset="-122"/>
                <a:cs typeface="Calibri" pitchFamily="34" charset="-120"/>
              </a:rPr>
              <a:t>  ➢Analyze health-related parameters.</a:t>
            </a:r>
          </a:p>
          <a:p>
            <a:pPr>
              <a:lnSpc>
                <a:spcPct val="130000"/>
              </a:lnSpc>
            </a:pPr>
            <a:r>
              <a:rPr lang="en-US" altLang="en-US" sz="1300" i="1" dirty="0">
                <a:solidFill>
                  <a:srgbClr val="B0BEC5"/>
                </a:solidFill>
                <a:latin typeface="Calibri" pitchFamily="34" charset="0"/>
                <a:ea typeface="Calibri" pitchFamily="34" charset="-122"/>
                <a:cs typeface="Calibri" pitchFamily="34" charset="-120"/>
              </a:rPr>
              <a:t>  ➢</a:t>
            </a:r>
            <a:r>
              <a:rPr lang="en-IN" sz="1300" i="1" dirty="0">
                <a:solidFill>
                  <a:srgbClr val="B0BEC5"/>
                </a:solidFill>
                <a:latin typeface="Calibri" pitchFamily="34" charset="0"/>
                <a:ea typeface="Calibri" pitchFamily="34" charset="-122"/>
                <a:cs typeface="Calibri" pitchFamily="34" charset="-120"/>
              </a:rPr>
              <a:t>Calculate a health score</a:t>
            </a:r>
            <a:r>
              <a:rPr lang="en-US" altLang="en-US" sz="1300" i="1" dirty="0">
                <a:solidFill>
                  <a:srgbClr val="B0BEC5"/>
                </a:solidFill>
                <a:latin typeface="Calibri" pitchFamily="34" charset="0"/>
                <a:ea typeface="Calibri" pitchFamily="34" charset="-122"/>
                <a:cs typeface="Calibri" pitchFamily="34" charset="-120"/>
              </a:rPr>
              <a:t>.</a:t>
            </a:r>
          </a:p>
          <a:p>
            <a:pPr>
              <a:lnSpc>
                <a:spcPct val="130000"/>
              </a:lnSpc>
            </a:pPr>
            <a:r>
              <a:rPr lang="en-US" altLang="en-US" sz="1300" i="1" dirty="0">
                <a:solidFill>
                  <a:srgbClr val="B0BEC5"/>
                </a:solidFill>
                <a:latin typeface="Calibri" pitchFamily="34" charset="0"/>
                <a:ea typeface="Calibri" pitchFamily="34" charset="-122"/>
                <a:cs typeface="Calibri" pitchFamily="34" charset="-120"/>
              </a:rPr>
              <a:t>  ➢</a:t>
            </a:r>
            <a:r>
              <a:rPr lang="en-US" sz="1300" i="1" dirty="0">
                <a:solidFill>
                  <a:srgbClr val="B0BEC5"/>
                </a:solidFill>
                <a:latin typeface="Calibri" pitchFamily="34" charset="0"/>
                <a:ea typeface="Calibri" pitchFamily="34" charset="-122"/>
                <a:cs typeface="Calibri" pitchFamily="34" charset="-120"/>
              </a:rPr>
              <a:t>Predict the risk level (Low, Medium, High).</a:t>
            </a:r>
          </a:p>
          <a:p>
            <a:pPr>
              <a:lnSpc>
                <a:spcPct val="130000"/>
              </a:lnSpc>
            </a:pPr>
            <a:r>
              <a:rPr lang="en-US" altLang="en-US" sz="1300" i="1" dirty="0">
                <a:solidFill>
                  <a:srgbClr val="B0BEC5"/>
                </a:solidFill>
                <a:latin typeface="Calibri" pitchFamily="34" charset="0"/>
                <a:ea typeface="Calibri" pitchFamily="34" charset="-122"/>
                <a:cs typeface="Calibri" pitchFamily="34" charset="-120"/>
              </a:rPr>
              <a:t>  ➢</a:t>
            </a:r>
            <a:r>
              <a:rPr lang="en-US" sz="1400" dirty="0"/>
              <a:t> </a:t>
            </a:r>
            <a:r>
              <a:rPr lang="en-US" sz="1300" i="1" dirty="0">
                <a:solidFill>
                  <a:srgbClr val="B0BEC5"/>
                </a:solidFill>
                <a:latin typeface="Calibri" pitchFamily="34" charset="0"/>
                <a:ea typeface="Calibri" pitchFamily="34" charset="-122"/>
                <a:cs typeface="Calibri" pitchFamily="34" charset="-120"/>
              </a:rPr>
              <a:t>Store and manage patient records efficiently.</a:t>
            </a:r>
          </a:p>
        </p:txBody>
      </p:sp>
      <p:sp>
        <p:nvSpPr>
          <p:cNvPr id="16" name="Rectangle 7">
            <a:extLst>
              <a:ext uri="{FF2B5EF4-FFF2-40B4-BE49-F238E27FC236}">
                <a16:creationId xmlns:a16="http://schemas.microsoft.com/office/drawing/2014/main" id="{BFA849CE-244C-6397-FFC7-798BECDA67A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318" y="6455"/>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367665" y="200361"/>
            <a:ext cx="8412480" cy="566928"/>
          </a:xfrm>
          <a:prstGeom prst="rect">
            <a:avLst/>
          </a:prstGeom>
          <a:noFill/>
        </p:spPr>
        <p:txBody>
          <a:bodyPr wrap="square" lIns="0" tIns="0" rIns="0" bIns="0" rtlCol="0" anchor="ctr"/>
          <a:lstStyle/>
          <a:p>
            <a:r>
              <a:rPr lang="en-US" sz="2200" b="1" dirty="0">
                <a:solidFill>
                  <a:srgbClr val="FFFFFF"/>
                </a:solidFill>
                <a:latin typeface="Trebuchet MS" panose="020B0703020202090204" pitchFamily="34" charset="0"/>
              </a:rPr>
              <a:t>OBJECTIVE</a:t>
            </a:r>
          </a:p>
          <a:p>
            <a:pPr marL="0" indent="0" algn="l">
              <a:buNone/>
            </a:pPr>
            <a:endParaRPr lang="en-US" sz="2200" dirty="0"/>
          </a:p>
        </p:txBody>
      </p:sp>
      <p:sp>
        <p:nvSpPr>
          <p:cNvPr id="5" name="Shape 3"/>
          <p:cNvSpPr/>
          <p:nvPr/>
        </p:nvSpPr>
        <p:spPr>
          <a:xfrm>
            <a:off x="0" y="4892040"/>
            <a:ext cx="9144000" cy="251460"/>
          </a:xfrm>
          <a:prstGeom prst="rect">
            <a:avLst/>
          </a:prstGeom>
          <a:solidFill>
            <a:srgbClr val="00796B"/>
          </a:solidFill>
        </p:spPr>
      </p:sp>
      <p:sp>
        <p:nvSpPr>
          <p:cNvPr id="6" name="Text 4"/>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Rectangle 1">
            <a:extLst>
              <a:ext uri="{FF2B5EF4-FFF2-40B4-BE49-F238E27FC236}">
                <a16:creationId xmlns:a16="http://schemas.microsoft.com/office/drawing/2014/main" id="{81F0681E-A496-97F0-F1F4-7D957CFC79AC}"/>
              </a:ext>
            </a:extLst>
          </p:cNvPr>
          <p:cNvSpPr>
            <a:spLocks noChangeArrowheads="1"/>
          </p:cNvSpPr>
          <p:nvPr/>
        </p:nvSpPr>
        <p:spPr bwMode="auto">
          <a:xfrm>
            <a:off x="1192369" y="1906335"/>
            <a:ext cx="5311775"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collect patient details and lifestyle data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calculate a health score based on key parameters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classify patients into Low, Medium, and High risk categories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store patient data securely in an Excel file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provide simple health improvement suggestions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bg2">
                    <a:lumMod val="75000"/>
                  </a:schemeClr>
                </a:solidFill>
              </a:rPr>
              <a:t>To enable easy search and display of patient records </a:t>
            </a:r>
          </a:p>
        </p:txBody>
      </p:sp>
      <p:sp>
        <p:nvSpPr>
          <p:cNvPr id="14" name="TextBox 13">
            <a:extLst>
              <a:ext uri="{FF2B5EF4-FFF2-40B4-BE49-F238E27FC236}">
                <a16:creationId xmlns:a16="http://schemas.microsoft.com/office/drawing/2014/main" id="{236D9C0B-B7E0-4734-B215-52EE436D2235}"/>
              </a:ext>
            </a:extLst>
          </p:cNvPr>
          <p:cNvSpPr txBox="1"/>
          <p:nvPr/>
        </p:nvSpPr>
        <p:spPr>
          <a:xfrm>
            <a:off x="890867" y="1278719"/>
            <a:ext cx="7721973" cy="830997"/>
          </a:xfrm>
          <a:prstGeom prst="rect">
            <a:avLst/>
          </a:prstGeom>
          <a:noFill/>
        </p:spPr>
        <p:txBody>
          <a:bodyPr wrap="square">
            <a:spAutoFit/>
          </a:bodyPr>
          <a:lstStyle/>
          <a:p>
            <a:r>
              <a:rPr lang="en-US" sz="1600" dirty="0">
                <a:solidFill>
                  <a:schemeClr val="bg2">
                    <a:lumMod val="75000"/>
                  </a:schemeClr>
                </a:solidFill>
              </a:rPr>
              <a:t>The main objective of this project is to develop a simple and efficient health monitoring system using Python that helps in analyzing basic health parameters and predicting risk levels.</a:t>
            </a:r>
            <a:endParaRPr lang="en-IN" sz="1600" dirty="0">
              <a:solidFill>
                <a:schemeClr val="bg2">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rPr>
              <a:t>TECHNOLOGIES USED</a:t>
            </a:r>
            <a:endParaRPr lang="en-US" sz="2200" dirty="0"/>
          </a:p>
        </p:txBody>
      </p:sp>
      <p:sp>
        <p:nvSpPr>
          <p:cNvPr id="5" name="Shape 3"/>
          <p:cNvSpPr/>
          <p:nvPr/>
        </p:nvSpPr>
        <p:spPr>
          <a:xfrm>
            <a:off x="0" y="4892040"/>
            <a:ext cx="9144000" cy="251460"/>
          </a:xfrm>
          <a:prstGeom prst="rect">
            <a:avLst/>
          </a:prstGeom>
          <a:solidFill>
            <a:srgbClr val="00796B"/>
          </a:solidFill>
        </p:spPr>
      </p:sp>
      <p:sp>
        <p:nvSpPr>
          <p:cNvPr id="6" name="Text 4"/>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Shape 5"/>
          <p:cNvSpPr/>
          <p:nvPr/>
        </p:nvSpPr>
        <p:spPr>
          <a:xfrm>
            <a:off x="320040" y="804672"/>
            <a:ext cx="8503920" cy="1143000"/>
          </a:xfrm>
          <a:prstGeom prst="rect">
            <a:avLst/>
          </a:prstGeom>
          <a:solidFill>
            <a:srgbClr val="FFFFFF"/>
          </a:solidFill>
          <a:effectLst>
            <a:outerShdw blurRad="63500" dist="25400" dir="8100000" algn="bl" rotWithShape="0">
              <a:srgbClr val="000000">
                <a:alpha val="10000"/>
              </a:srgbClr>
            </a:outerShdw>
          </a:effectLst>
        </p:spPr>
        <p:txBody>
          <a:bodyPr/>
          <a:lstStyle/>
          <a:p>
            <a:endParaRPr lang="en-IN" dirty="0"/>
          </a:p>
        </p:txBody>
      </p:sp>
      <p:sp>
        <p:nvSpPr>
          <p:cNvPr id="8" name="Shape 6"/>
          <p:cNvSpPr/>
          <p:nvPr/>
        </p:nvSpPr>
        <p:spPr>
          <a:xfrm>
            <a:off x="320040" y="804672"/>
            <a:ext cx="82296" cy="1143000"/>
          </a:xfrm>
          <a:prstGeom prst="rect">
            <a:avLst/>
          </a:prstGeom>
          <a:solidFill>
            <a:srgbClr val="00796B"/>
          </a:solidFill>
        </p:spPr>
      </p:sp>
      <p:sp>
        <p:nvSpPr>
          <p:cNvPr id="9" name="Text 7"/>
          <p:cNvSpPr/>
          <p:nvPr/>
        </p:nvSpPr>
        <p:spPr>
          <a:xfrm>
            <a:off x="548640" y="896112"/>
            <a:ext cx="8046720" cy="347472"/>
          </a:xfrm>
          <a:prstGeom prst="rect">
            <a:avLst/>
          </a:prstGeom>
          <a:noFill/>
        </p:spPr>
        <p:txBody>
          <a:bodyPr wrap="square" lIns="0" tIns="0" rIns="0" bIns="0" rtlCol="0" anchor="ctr"/>
          <a:lstStyle/>
          <a:p>
            <a:pPr marL="0" indent="0">
              <a:buNone/>
            </a:pPr>
            <a:r>
              <a:rPr lang="en-US" sz="13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1. Python</a:t>
            </a:r>
            <a:endParaRPr lang="en-US" sz="1300" dirty="0"/>
          </a:p>
        </p:txBody>
      </p:sp>
      <p:sp>
        <p:nvSpPr>
          <p:cNvPr id="10" name="Text 8"/>
          <p:cNvSpPr/>
          <p:nvPr/>
        </p:nvSpPr>
        <p:spPr>
          <a:xfrm>
            <a:off x="777240" y="1129284"/>
            <a:ext cx="8046720" cy="594360"/>
          </a:xfrm>
          <a:prstGeom prst="rect">
            <a:avLst/>
          </a:prstGeom>
          <a:noFill/>
        </p:spPr>
        <p:txBody>
          <a:bodyPr wrap="square" lIns="0" tIns="0" rIns="0" bIns="0" rtlCol="0" anchor="ctr"/>
          <a:lstStyle/>
          <a:p>
            <a:pPr marL="0" indent="0">
              <a:buNone/>
            </a:pPr>
            <a:r>
              <a:rPr lang="en-US" altLang="en-US" sz="1400" dirty="0">
                <a:solidFill>
                  <a:schemeClr val="bg2">
                    <a:lumMod val="75000"/>
                  </a:schemeClr>
                </a:solidFill>
              </a:rPr>
              <a:t>Core programming language for logic &amp; processing.</a:t>
            </a:r>
          </a:p>
        </p:txBody>
      </p:sp>
      <p:sp>
        <p:nvSpPr>
          <p:cNvPr id="11" name="Shape 9"/>
          <p:cNvSpPr/>
          <p:nvPr/>
        </p:nvSpPr>
        <p:spPr>
          <a:xfrm>
            <a:off x="320040" y="2103120"/>
            <a:ext cx="8503920" cy="1143000"/>
          </a:xfrm>
          <a:prstGeom prst="rect">
            <a:avLst/>
          </a:prstGeom>
          <a:solidFill>
            <a:srgbClr val="FFFFFF"/>
          </a:solidFill>
          <a:effectLst>
            <a:outerShdw blurRad="63500" dist="25400" dir="8100000" algn="bl" rotWithShape="0">
              <a:srgbClr val="000000">
                <a:alpha val="10000"/>
              </a:srgbClr>
            </a:outerShdw>
          </a:effectLst>
        </p:spPr>
        <p:txBody>
          <a:bodyPr/>
          <a:lstStyle/>
          <a:p>
            <a:endParaRPr lang="en-IN" dirty="0"/>
          </a:p>
        </p:txBody>
      </p:sp>
      <p:sp>
        <p:nvSpPr>
          <p:cNvPr id="12" name="Shape 10"/>
          <p:cNvSpPr/>
          <p:nvPr/>
        </p:nvSpPr>
        <p:spPr>
          <a:xfrm>
            <a:off x="320040" y="2103120"/>
            <a:ext cx="82296" cy="1143000"/>
          </a:xfrm>
          <a:prstGeom prst="rect">
            <a:avLst/>
          </a:prstGeom>
          <a:solidFill>
            <a:srgbClr val="FFB300"/>
          </a:solidFill>
        </p:spPr>
      </p:sp>
      <p:sp>
        <p:nvSpPr>
          <p:cNvPr id="13" name="Text 11"/>
          <p:cNvSpPr/>
          <p:nvPr/>
        </p:nvSpPr>
        <p:spPr>
          <a:xfrm>
            <a:off x="548640" y="2194560"/>
            <a:ext cx="8046720" cy="347472"/>
          </a:xfrm>
          <a:prstGeom prst="rect">
            <a:avLst/>
          </a:prstGeom>
          <a:noFill/>
        </p:spPr>
        <p:txBody>
          <a:bodyPr wrap="square" lIns="0" tIns="0" rIns="0" bIns="0" rtlCol="0" anchor="ctr"/>
          <a:lstStyle/>
          <a:p>
            <a:pPr marL="0" indent="0">
              <a:buNone/>
            </a:pPr>
            <a:r>
              <a:rPr lang="en-US" sz="13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2. </a:t>
            </a:r>
            <a:r>
              <a:rPr lang="en-US" sz="1300" b="1" dirty="0" err="1">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openpyxl</a:t>
            </a:r>
            <a:endParaRPr lang="en-US" altLang="en-US" sz="1300" dirty="0"/>
          </a:p>
        </p:txBody>
      </p:sp>
      <p:sp>
        <p:nvSpPr>
          <p:cNvPr id="14" name="Text 12"/>
          <p:cNvSpPr/>
          <p:nvPr/>
        </p:nvSpPr>
        <p:spPr>
          <a:xfrm>
            <a:off x="548640" y="2578608"/>
            <a:ext cx="8046720" cy="594360"/>
          </a:xfrm>
          <a:prstGeom prst="rect">
            <a:avLst/>
          </a:prstGeom>
          <a:noFill/>
        </p:spPr>
        <p:txBody>
          <a:bodyPr wrap="square" lIns="0" tIns="0" rIns="0" bIns="0" rtlCol="0" anchor="ctr"/>
          <a:lstStyle/>
          <a:p>
            <a:pPr marL="0" indent="0">
              <a:buNone/>
            </a:pPr>
            <a:endParaRPr lang="en-US" altLang="en-US" sz="1150" dirty="0">
              <a:solidFill>
                <a:schemeClr val="bg2">
                  <a:lumMod val="75000"/>
                </a:schemeClr>
              </a:solidFill>
            </a:endParaRPr>
          </a:p>
        </p:txBody>
      </p:sp>
      <p:sp>
        <p:nvSpPr>
          <p:cNvPr id="15" name="Shape 13"/>
          <p:cNvSpPr/>
          <p:nvPr/>
        </p:nvSpPr>
        <p:spPr>
          <a:xfrm>
            <a:off x="320040" y="3401568"/>
            <a:ext cx="8503920" cy="1143000"/>
          </a:xfrm>
          <a:prstGeom prst="rect">
            <a:avLst/>
          </a:prstGeom>
          <a:solidFill>
            <a:srgbClr val="FFFFFF"/>
          </a:solidFill>
          <a:effectLst>
            <a:outerShdw blurRad="63500" dist="25400" dir="8100000" algn="bl" rotWithShape="0">
              <a:srgbClr val="000000">
                <a:alpha val="10000"/>
              </a:srgbClr>
            </a:outerShdw>
          </a:effectLst>
        </p:spPr>
      </p:sp>
      <p:sp>
        <p:nvSpPr>
          <p:cNvPr id="16" name="Shape 14"/>
          <p:cNvSpPr/>
          <p:nvPr/>
        </p:nvSpPr>
        <p:spPr>
          <a:xfrm>
            <a:off x="320040" y="3401568"/>
            <a:ext cx="82296" cy="1143000"/>
          </a:xfrm>
          <a:prstGeom prst="rect">
            <a:avLst/>
          </a:prstGeom>
          <a:solidFill>
            <a:srgbClr val="00796B"/>
          </a:solidFill>
        </p:spPr>
      </p:sp>
      <p:sp>
        <p:nvSpPr>
          <p:cNvPr id="17" name="Text 15"/>
          <p:cNvSpPr/>
          <p:nvPr/>
        </p:nvSpPr>
        <p:spPr>
          <a:xfrm>
            <a:off x="548640" y="3493008"/>
            <a:ext cx="8046720" cy="347472"/>
          </a:xfrm>
          <a:prstGeom prst="rect">
            <a:avLst/>
          </a:prstGeom>
          <a:noFill/>
        </p:spPr>
        <p:txBody>
          <a:bodyPr wrap="square" lIns="0" tIns="0" rIns="0" bIns="0" rtlCol="0" anchor="ctr"/>
          <a:lstStyle/>
          <a:p>
            <a:r>
              <a:rPr lang="en-US" sz="1300" b="1" dirty="0">
                <a:solidFill>
                  <a:schemeClr val="bg2">
                    <a:lumMod val="75000"/>
                  </a:schemeClr>
                </a:solidFill>
                <a:latin typeface="Trebuchet MS" panose="020B0603020202020204" pitchFamily="34" charset="0"/>
                <a:ea typeface="Trebuchet MS" panose="020B0703020202090204" pitchFamily="34" charset="-122"/>
                <a:cs typeface="Trebuchet MS" panose="020B0703020202090204" pitchFamily="34" charset="-120"/>
              </a:rPr>
              <a:t>3. </a:t>
            </a:r>
            <a:r>
              <a:rPr lang="en-IN" sz="1400" b="1" dirty="0">
                <a:solidFill>
                  <a:schemeClr val="bg2">
                    <a:lumMod val="75000"/>
                  </a:schemeClr>
                </a:solidFill>
                <a:latin typeface="Trebuchet MS" panose="020B0603020202020204" pitchFamily="34" charset="0"/>
              </a:rPr>
              <a:t>Excel File (.xlsx)</a:t>
            </a:r>
            <a:endParaRPr lang="en-US" sz="1300" b="1" dirty="0">
              <a:solidFill>
                <a:schemeClr val="bg2">
                  <a:lumMod val="75000"/>
                </a:schemeClr>
              </a:solidFill>
              <a:latin typeface="Trebuchet MS" panose="020B0603020202020204" pitchFamily="34" charset="0"/>
            </a:endParaRPr>
          </a:p>
        </p:txBody>
      </p:sp>
      <p:sp>
        <p:nvSpPr>
          <p:cNvPr id="18" name="Text 16"/>
          <p:cNvSpPr/>
          <p:nvPr/>
        </p:nvSpPr>
        <p:spPr>
          <a:xfrm>
            <a:off x="548640" y="3877056"/>
            <a:ext cx="8046720" cy="594360"/>
          </a:xfrm>
          <a:prstGeom prst="rect">
            <a:avLst/>
          </a:prstGeom>
          <a:noFill/>
        </p:spPr>
        <p:txBody>
          <a:bodyPr wrap="square" lIns="0" tIns="0" rIns="0" bIns="0" rtlCol="0" anchor="ctr"/>
          <a:lstStyle/>
          <a:p>
            <a:pPr marL="0" indent="0">
              <a:buNone/>
            </a:pPr>
            <a:r>
              <a:rPr lang="en-US" altLang="en-US" sz="1150" dirty="0"/>
              <a:t>Designing of an abdominal therapy belt that provides pain relief through heat and vibration.</a:t>
            </a:r>
          </a:p>
        </p:txBody>
      </p:sp>
      <p:sp>
        <p:nvSpPr>
          <p:cNvPr id="26" name="Rectangle 7">
            <a:extLst>
              <a:ext uri="{FF2B5EF4-FFF2-40B4-BE49-F238E27FC236}">
                <a16:creationId xmlns:a16="http://schemas.microsoft.com/office/drawing/2014/main" id="{AF4F1655-A1F9-B801-6E1A-7880117F8350}"/>
              </a:ext>
            </a:extLst>
          </p:cNvPr>
          <p:cNvSpPr>
            <a:spLocks noChangeArrowheads="1"/>
          </p:cNvSpPr>
          <p:nvPr/>
        </p:nvSpPr>
        <p:spPr bwMode="auto">
          <a:xfrm>
            <a:off x="777240" y="2472786"/>
            <a:ext cx="576072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Arial" panose="020B0604020202020204" pitchFamily="34" charset="0"/>
              <a:buChar char="•"/>
            </a:pPr>
            <a:r>
              <a:rPr lang="en-US" sz="1400" dirty="0">
                <a:solidFill>
                  <a:schemeClr val="bg2">
                    <a:lumMod val="75000"/>
                  </a:schemeClr>
                </a:solidFill>
              </a:rPr>
              <a:t>is a </a:t>
            </a:r>
            <a:r>
              <a:rPr lang="en-US" sz="1400" b="1" dirty="0">
                <a:solidFill>
                  <a:schemeClr val="bg2">
                    <a:lumMod val="75000"/>
                  </a:schemeClr>
                </a:solidFill>
              </a:rPr>
              <a:t>Python library (module) </a:t>
            </a:r>
            <a:r>
              <a:rPr lang="en-US" altLang="en-US" sz="1400" dirty="0">
                <a:solidFill>
                  <a:schemeClr val="bg2">
                    <a:lumMod val="75000"/>
                  </a:schemeClr>
                </a:solidFill>
              </a:rPr>
              <a:t>Used to create, read, and write Excel files.</a:t>
            </a:r>
          </a:p>
          <a:p>
            <a:pPr marL="285750" indent="-285750" defTabSz="914400" eaLnBrk="0" fontAlgn="base" hangingPunct="0">
              <a:spcBef>
                <a:spcPct val="0"/>
              </a:spcBef>
              <a:spcAft>
                <a:spcPct val="0"/>
              </a:spcAft>
              <a:buFont typeface="Arial" panose="020B0604020202020204" pitchFamily="34" charset="0"/>
              <a:buChar char="•"/>
            </a:pPr>
            <a:r>
              <a:rPr lang="en-IN" sz="1400" dirty="0">
                <a:solidFill>
                  <a:schemeClr val="bg2">
                    <a:lumMod val="75000"/>
                  </a:schemeClr>
                </a:solidFill>
              </a:rPr>
              <a:t>Helps in storing patient data permanently.</a:t>
            </a:r>
          </a:p>
          <a:p>
            <a:pPr lvl="1" defTabSz="914400" eaLnBrk="0" fontAlgn="base" hangingPunct="0">
              <a:spcBef>
                <a:spcPct val="0"/>
              </a:spcBef>
              <a:spcAft>
                <a:spcPct val="0"/>
              </a:spcAft>
            </a:pPr>
            <a:r>
              <a:rPr lang="en-US" altLang="en-US" sz="1400" dirty="0">
                <a:solidFill>
                  <a:schemeClr val="bg2">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2">
                  <a:lumMod val="75000"/>
                </a:schemeClr>
              </a:solidFill>
              <a:effectLst/>
              <a:latin typeface="Arial" panose="020B0604020202020204" pitchFamily="34" charset="0"/>
            </a:endParaRPr>
          </a:p>
        </p:txBody>
      </p:sp>
      <p:sp>
        <p:nvSpPr>
          <p:cNvPr id="27" name="Rectangle 8">
            <a:extLst>
              <a:ext uri="{FF2B5EF4-FFF2-40B4-BE49-F238E27FC236}">
                <a16:creationId xmlns:a16="http://schemas.microsoft.com/office/drawing/2014/main" id="{6B0109FA-D5A9-BF26-938A-F084F02F2112}"/>
              </a:ext>
            </a:extLst>
          </p:cNvPr>
          <p:cNvSpPr>
            <a:spLocks noChangeArrowheads="1"/>
          </p:cNvSpPr>
          <p:nvPr/>
        </p:nvSpPr>
        <p:spPr bwMode="auto">
          <a:xfrm>
            <a:off x="777240" y="3557016"/>
            <a:ext cx="3480761"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solidFill>
                  <a:schemeClr val="bg2">
                    <a:lumMod val="75000"/>
                  </a:schemeClr>
                </a:solidFill>
              </a:rPr>
              <a:t>Used as a database to store patient records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solidFill>
                  <a:schemeClr val="bg2">
                    <a:lumMod val="75000"/>
                  </a:schemeClr>
                </a:solidFill>
              </a:rPr>
              <a:t>Allows easy data management and retrieval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502920" y="45720"/>
            <a:ext cx="8412480" cy="566928"/>
          </a:xfrm>
          <a:prstGeom prst="rect">
            <a:avLst/>
          </a:prstGeom>
          <a:noFill/>
        </p:spPr>
        <p:txBody>
          <a:bodyPr wrap="square" lIns="0" tIns="0" rIns="0" bIns="0" rtlCol="0" anchor="ctr"/>
          <a:lstStyle/>
          <a:p>
            <a:r>
              <a:rPr lang="en-US" sz="2200" b="1" dirty="0">
                <a:solidFill>
                  <a:srgbClr val="FFFFFF"/>
                </a:solidFill>
                <a:latin typeface="Trebuchet MS" panose="020B0703020202090204" pitchFamily="34" charset="0"/>
              </a:rPr>
              <a:t>SYSTEM FEATURE </a:t>
            </a:r>
            <a:endParaRPr lang="en-US" sz="2200" dirty="0"/>
          </a:p>
        </p:txBody>
      </p:sp>
      <p:sp>
        <p:nvSpPr>
          <p:cNvPr id="5" name="Shape 3"/>
          <p:cNvSpPr/>
          <p:nvPr/>
        </p:nvSpPr>
        <p:spPr>
          <a:xfrm>
            <a:off x="0" y="4892040"/>
            <a:ext cx="9144000" cy="251460"/>
          </a:xfrm>
          <a:prstGeom prst="rect">
            <a:avLst/>
          </a:prstGeom>
          <a:solidFill>
            <a:srgbClr val="00796B"/>
          </a:solidFill>
        </p:spPr>
      </p:sp>
      <p:sp>
        <p:nvSpPr>
          <p:cNvPr id="6" name="Text 4"/>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Shape 5"/>
          <p:cNvSpPr/>
          <p:nvPr/>
        </p:nvSpPr>
        <p:spPr>
          <a:xfrm>
            <a:off x="320040" y="804672"/>
            <a:ext cx="8503920" cy="1417320"/>
          </a:xfrm>
          <a:prstGeom prst="rect">
            <a:avLst/>
          </a:prstGeom>
          <a:solidFill>
            <a:srgbClr val="0A1F2E"/>
          </a:solidFill>
          <a:effectLst>
            <a:outerShdw blurRad="101600" dist="38100" dir="8100000" algn="bl" rotWithShape="0">
              <a:srgbClr val="000000">
                <a:alpha val="12000"/>
              </a:srgbClr>
            </a:outerShdw>
          </a:effectLst>
        </p:spPr>
      </p:sp>
      <p:sp>
        <p:nvSpPr>
          <p:cNvPr id="8" name="Shape 6"/>
          <p:cNvSpPr/>
          <p:nvPr/>
        </p:nvSpPr>
        <p:spPr>
          <a:xfrm>
            <a:off x="320040" y="804672"/>
            <a:ext cx="8503920" cy="64008"/>
          </a:xfrm>
          <a:prstGeom prst="rect">
            <a:avLst/>
          </a:prstGeom>
          <a:solidFill>
            <a:srgbClr val="FFB300"/>
          </a:solidFill>
        </p:spPr>
      </p:sp>
      <p:sp>
        <p:nvSpPr>
          <p:cNvPr id="9" name="Text 7"/>
          <p:cNvSpPr/>
          <p:nvPr/>
        </p:nvSpPr>
        <p:spPr>
          <a:xfrm>
            <a:off x="502920" y="868680"/>
            <a:ext cx="8229600" cy="457200"/>
          </a:xfrm>
          <a:prstGeom prst="rect">
            <a:avLst/>
          </a:prstGeom>
          <a:noFill/>
        </p:spPr>
        <p:txBody>
          <a:bodyPr wrap="square" lIns="0" tIns="0" rIns="0" bIns="0" rtlCol="0" anchor="ctr"/>
          <a:lstStyle/>
          <a:p>
            <a:pPr marL="0" indent="0">
              <a:buNone/>
            </a:pPr>
            <a:r>
              <a:rPr lang="en-US" sz="1400" b="1" dirty="0">
                <a:solidFill>
                  <a:srgbClr val="FFB300"/>
                </a:solidFill>
                <a:latin typeface="Trebuchet MS" panose="020B0703020202090204" pitchFamily="34" charset="0"/>
                <a:ea typeface="Trebuchet MS" panose="020B0703020202090204" pitchFamily="34" charset="-122"/>
                <a:cs typeface="Trebuchet MS" panose="020B0703020202090204" pitchFamily="34" charset="-120"/>
              </a:rPr>
              <a:t>FINALISED APPROACH: </a:t>
            </a:r>
            <a:endParaRPr lang="en-US" sz="1400" dirty="0"/>
          </a:p>
        </p:txBody>
      </p:sp>
      <p:sp>
        <p:nvSpPr>
          <p:cNvPr id="10" name="Text 8"/>
          <p:cNvSpPr/>
          <p:nvPr/>
        </p:nvSpPr>
        <p:spPr>
          <a:xfrm>
            <a:off x="548640" y="1143145"/>
            <a:ext cx="8229600" cy="873760"/>
          </a:xfrm>
          <a:prstGeom prst="rect">
            <a:avLst/>
          </a:prstGeom>
          <a:noFill/>
        </p:spPr>
        <p:txBody>
          <a:bodyPr wrap="square" lIns="0" tIns="0" rIns="0" bIns="0" rtlCol="0" anchor="ctr"/>
          <a:lstStyle/>
          <a:p>
            <a:pPr>
              <a:lnSpc>
                <a:spcPct val="125000"/>
              </a:lnSpc>
            </a:pPr>
            <a:r>
              <a:rPr lang="en-US" sz="1200" dirty="0">
                <a:solidFill>
                  <a:srgbClr val="B0BEC5"/>
                </a:solidFill>
                <a:latin typeface="Calibri" pitchFamily="34" charset="0"/>
                <a:ea typeface="Calibri" pitchFamily="34" charset="-122"/>
                <a:cs typeface="Calibri" pitchFamily="34" charset="-120"/>
              </a:rPr>
              <a:t>The system provides features to store patient data, calculate health score, predict risk level, generate health suggestions, and allow easy search and display of records using a menu-driven interface. </a:t>
            </a:r>
          </a:p>
        </p:txBody>
      </p:sp>
      <p:sp>
        <p:nvSpPr>
          <p:cNvPr id="11" name="Shape 9"/>
          <p:cNvSpPr/>
          <p:nvPr/>
        </p:nvSpPr>
        <p:spPr>
          <a:xfrm>
            <a:off x="3168396" y="2432304"/>
            <a:ext cx="2697480" cy="2331720"/>
          </a:xfrm>
          <a:prstGeom prst="rect">
            <a:avLst/>
          </a:prstGeom>
          <a:solidFill>
            <a:srgbClr val="FFFFFF"/>
          </a:solidFill>
          <a:effectLst>
            <a:outerShdw blurRad="63500" dist="25400" dir="8100000" algn="bl" rotWithShape="0">
              <a:srgbClr val="000000">
                <a:alpha val="10000"/>
              </a:srgbClr>
            </a:outerShdw>
          </a:effectLst>
        </p:spPr>
        <p:txBody>
          <a:bodyPr/>
          <a:lstStyle/>
          <a:p>
            <a:r>
              <a:rPr lang="en-IN" sz="1400" dirty="0"/>
              <a:t>project folder/</a:t>
            </a:r>
          </a:p>
          <a:p>
            <a:r>
              <a:rPr lang="en-IN" sz="1400" dirty="0">
                <a:solidFill>
                  <a:schemeClr val="bg2">
                    <a:lumMod val="75000"/>
                  </a:schemeClr>
                </a:solidFill>
              </a:rPr>
              <a:t>project folder/</a:t>
            </a:r>
          </a:p>
          <a:p>
            <a:r>
              <a:rPr lang="en-IN" sz="1400" dirty="0">
                <a:solidFill>
                  <a:schemeClr val="bg2">
                    <a:lumMod val="75000"/>
                  </a:schemeClr>
                </a:solidFill>
              </a:rPr>
              <a:t>│</a:t>
            </a:r>
          </a:p>
          <a:p>
            <a:r>
              <a:rPr lang="en-IN" sz="1400" dirty="0">
                <a:solidFill>
                  <a:schemeClr val="bg2">
                    <a:lumMod val="75000"/>
                  </a:schemeClr>
                </a:solidFill>
              </a:rPr>
              <a:t>├─ main.py  ← Main program</a:t>
            </a:r>
          </a:p>
          <a:p>
            <a:r>
              <a:rPr lang="en-IN" sz="1400" dirty="0">
                <a:solidFill>
                  <a:schemeClr val="bg2">
                    <a:lumMod val="75000"/>
                  </a:schemeClr>
                </a:solidFill>
              </a:rPr>
              <a:t>├─ hl.py       ← Module file</a:t>
            </a:r>
          </a:p>
          <a:p>
            <a:r>
              <a:rPr lang="en-IN" sz="1400" dirty="0">
                <a:solidFill>
                  <a:schemeClr val="bg2">
                    <a:lumMod val="75000"/>
                  </a:schemeClr>
                </a:solidFill>
              </a:rPr>
              <a:t>└─ patients.xlsx ← Data file </a:t>
            </a:r>
            <a:r>
              <a:rPr lang="en-IN" sz="1400" dirty="0"/>
              <a:t>├── main.py        ← Main program</a:t>
            </a:r>
          </a:p>
          <a:p>
            <a:r>
              <a:rPr lang="en-IN" sz="1400" dirty="0"/>
              <a:t>├── hl.py          ← Module file</a:t>
            </a:r>
          </a:p>
          <a:p>
            <a:r>
              <a:rPr lang="en-IN" sz="1400" dirty="0"/>
              <a:t>└── patients.xlsx  ← Data file</a:t>
            </a:r>
          </a:p>
        </p:txBody>
      </p:sp>
      <p:sp>
        <p:nvSpPr>
          <p:cNvPr id="12" name="Shape 10"/>
          <p:cNvSpPr/>
          <p:nvPr/>
        </p:nvSpPr>
        <p:spPr>
          <a:xfrm>
            <a:off x="320040" y="2423160"/>
            <a:ext cx="2697480" cy="64008"/>
          </a:xfrm>
          <a:prstGeom prst="rect">
            <a:avLst/>
          </a:prstGeom>
          <a:solidFill>
            <a:srgbClr val="00796B"/>
          </a:solidFill>
        </p:spPr>
      </p:sp>
      <p:sp>
        <p:nvSpPr>
          <p:cNvPr id="13" name="Text 11"/>
          <p:cNvSpPr/>
          <p:nvPr/>
        </p:nvSpPr>
        <p:spPr>
          <a:xfrm>
            <a:off x="439293" y="2610993"/>
            <a:ext cx="2468880" cy="411480"/>
          </a:xfrm>
          <a:prstGeom prst="rect">
            <a:avLst/>
          </a:prstGeom>
          <a:noFill/>
        </p:spPr>
        <p:txBody>
          <a:bodyPr wrap="square" lIns="0" tIns="0" rIns="0" bIns="0" rtlCol="0" anchor="ctr"/>
          <a:lstStyle/>
          <a:p>
            <a:pPr marL="0" indent="0">
              <a:buNone/>
            </a:pPr>
            <a:endParaRPr lang="en-US" altLang="en-US" sz="1200" b="1" dirty="0"/>
          </a:p>
        </p:txBody>
      </p:sp>
      <p:sp>
        <p:nvSpPr>
          <p:cNvPr id="14" name="Text 12"/>
          <p:cNvSpPr/>
          <p:nvPr/>
        </p:nvSpPr>
        <p:spPr>
          <a:xfrm>
            <a:off x="429768" y="2990088"/>
            <a:ext cx="2468880" cy="1645920"/>
          </a:xfrm>
          <a:prstGeom prst="rect">
            <a:avLst/>
          </a:prstGeom>
          <a:noFill/>
        </p:spPr>
        <p:txBody>
          <a:bodyPr wrap="square" lIns="0" tIns="0" rIns="0" bIns="0" rtlCol="0" anchor="ctr"/>
          <a:lstStyle/>
          <a:p>
            <a:pPr marL="0" indent="0">
              <a:lnSpc>
                <a:spcPct val="120000"/>
              </a:lnSpc>
              <a:buNone/>
            </a:pPr>
            <a:r>
              <a:rPr lang="en-US" altLang="en-US" sz="1100" dirty="0"/>
              <a:t>\</a:t>
            </a:r>
          </a:p>
        </p:txBody>
      </p:sp>
      <p:sp>
        <p:nvSpPr>
          <p:cNvPr id="15" name="Shape 13"/>
          <p:cNvSpPr/>
          <p:nvPr/>
        </p:nvSpPr>
        <p:spPr>
          <a:xfrm>
            <a:off x="320040" y="2487168"/>
            <a:ext cx="2697480" cy="2331720"/>
          </a:xfrm>
          <a:prstGeom prst="rect">
            <a:avLst/>
          </a:prstGeom>
          <a:solidFill>
            <a:srgbClr val="FFFFFF"/>
          </a:solidFill>
          <a:effectLst>
            <a:outerShdw blurRad="63500" dist="25400" dir="8100000" algn="bl" rotWithShape="0">
              <a:srgbClr val="000000">
                <a:alpha val="10000"/>
              </a:srgbClr>
            </a:outerShdw>
          </a:effectLst>
        </p:spPr>
        <p:txBody>
          <a:bodyPr/>
          <a:lstStyle/>
          <a:p>
            <a:r>
              <a:rPr lang="en-US" sz="1400" dirty="0">
                <a:solidFill>
                  <a:schemeClr val="bg2">
                    <a:lumMod val="75000"/>
                  </a:schemeClr>
                </a:solidFill>
              </a:rPr>
              <a:t>The project is divided into </a:t>
            </a:r>
            <a:r>
              <a:rPr lang="en-US" sz="1400" b="1" dirty="0">
                <a:solidFill>
                  <a:schemeClr val="bg2">
                    <a:lumMod val="75000"/>
                  </a:schemeClr>
                </a:solidFill>
              </a:rPr>
              <a:t>two separate files</a:t>
            </a:r>
            <a:r>
              <a:rPr lang="en-US" sz="1400" dirty="0">
                <a:solidFill>
                  <a:schemeClr val="bg2">
                    <a:lumMod val="75000"/>
                  </a:schemeClr>
                </a:solidFill>
              </a:rPr>
              <a:t>:</a:t>
            </a:r>
          </a:p>
          <a:p>
            <a:endParaRPr lang="en-US" sz="1400" dirty="0">
              <a:solidFill>
                <a:schemeClr val="bg2">
                  <a:lumMod val="75000"/>
                </a:schemeClr>
              </a:solidFill>
            </a:endParaRPr>
          </a:p>
          <a:p>
            <a:pPr marL="285750" indent="-285750">
              <a:buFont typeface="Arial" panose="020B0604020202020204" pitchFamily="34" charset="0"/>
              <a:buChar char="•"/>
            </a:pPr>
            <a:r>
              <a:rPr lang="en-US" sz="1400" b="1" dirty="0">
                <a:solidFill>
                  <a:schemeClr val="bg2">
                    <a:lumMod val="75000"/>
                  </a:schemeClr>
                </a:solidFill>
              </a:rPr>
              <a:t>Main File</a:t>
            </a:r>
            <a:r>
              <a:rPr lang="en-US" sz="1400" dirty="0">
                <a:solidFill>
                  <a:schemeClr val="bg2">
                    <a:lumMod val="75000"/>
                  </a:schemeClr>
                </a:solidFill>
              </a:rPr>
              <a:t> → controls program flow </a:t>
            </a:r>
          </a:p>
          <a:p>
            <a:pPr marL="285750" indent="-285750">
              <a:buFont typeface="Arial" panose="020B0604020202020204" pitchFamily="34" charset="0"/>
              <a:buChar char="•"/>
            </a:pPr>
            <a:r>
              <a:rPr lang="en-US" sz="1400" b="1" dirty="0">
                <a:solidFill>
                  <a:schemeClr val="bg2">
                    <a:lumMod val="75000"/>
                  </a:schemeClr>
                </a:solidFill>
              </a:rPr>
              <a:t>Module File</a:t>
            </a:r>
            <a:r>
              <a:rPr lang="en-US" sz="1400" dirty="0">
                <a:solidFill>
                  <a:schemeClr val="bg2">
                    <a:lumMod val="75000"/>
                  </a:schemeClr>
                </a:solidFill>
              </a:rPr>
              <a:t> → contains logic functions</a:t>
            </a:r>
          </a:p>
          <a:p>
            <a:endParaRPr lang="en-IN" dirty="0"/>
          </a:p>
        </p:txBody>
      </p:sp>
      <p:sp>
        <p:nvSpPr>
          <p:cNvPr id="16" name="Shape 14"/>
          <p:cNvSpPr/>
          <p:nvPr/>
        </p:nvSpPr>
        <p:spPr>
          <a:xfrm>
            <a:off x="3172968" y="2423160"/>
            <a:ext cx="2697480" cy="64008"/>
          </a:xfrm>
          <a:prstGeom prst="rect">
            <a:avLst/>
          </a:prstGeom>
          <a:solidFill>
            <a:srgbClr val="FFB300"/>
          </a:solidFill>
        </p:spPr>
      </p:sp>
      <p:sp>
        <p:nvSpPr>
          <p:cNvPr id="17" name="Text 15"/>
          <p:cNvSpPr/>
          <p:nvPr/>
        </p:nvSpPr>
        <p:spPr>
          <a:xfrm>
            <a:off x="3313176" y="2610993"/>
            <a:ext cx="2468880" cy="411480"/>
          </a:xfrm>
          <a:prstGeom prst="rect">
            <a:avLst/>
          </a:prstGeom>
          <a:noFill/>
        </p:spPr>
        <p:txBody>
          <a:bodyPr wrap="square" lIns="0" tIns="0" rIns="0" bIns="0" rtlCol="0" anchor="ctr"/>
          <a:lstStyle/>
          <a:p>
            <a:pPr marL="0" indent="0">
              <a:buNone/>
            </a:pPr>
            <a:endParaRPr lang="en-US" altLang="en-US" sz="1200" b="1" dirty="0"/>
          </a:p>
        </p:txBody>
      </p:sp>
      <p:sp>
        <p:nvSpPr>
          <p:cNvPr id="18" name="Text 16"/>
          <p:cNvSpPr/>
          <p:nvPr/>
        </p:nvSpPr>
        <p:spPr>
          <a:xfrm>
            <a:off x="3282696" y="2990088"/>
            <a:ext cx="2468880" cy="1645920"/>
          </a:xfrm>
          <a:prstGeom prst="rect">
            <a:avLst/>
          </a:prstGeom>
          <a:noFill/>
        </p:spPr>
        <p:txBody>
          <a:bodyPr wrap="square" lIns="0" tIns="0" rIns="0" bIns="0" rtlCol="0" anchor="ctr"/>
          <a:lstStyle/>
          <a:p>
            <a:pPr marL="0" indent="0">
              <a:lnSpc>
                <a:spcPct val="120000"/>
              </a:lnSpc>
              <a:buNone/>
            </a:pPr>
            <a:endParaRPr lang="en-US" altLang="en-US" sz="1100" dirty="0"/>
          </a:p>
        </p:txBody>
      </p:sp>
      <p:sp>
        <p:nvSpPr>
          <p:cNvPr id="19" name="Shape 17"/>
          <p:cNvSpPr/>
          <p:nvPr/>
        </p:nvSpPr>
        <p:spPr>
          <a:xfrm>
            <a:off x="6025896" y="2423160"/>
            <a:ext cx="2697480" cy="2331720"/>
          </a:xfrm>
          <a:prstGeom prst="rect">
            <a:avLst/>
          </a:prstGeom>
          <a:solidFill>
            <a:srgbClr val="FFFFFF"/>
          </a:solidFill>
          <a:effectLst>
            <a:outerShdw blurRad="63500" dist="25400" dir="8100000" algn="bl" rotWithShape="0">
              <a:srgbClr val="000000">
                <a:alpha val="10000"/>
              </a:srgbClr>
            </a:outerShdw>
          </a:effectLst>
        </p:spPr>
        <p:txBody>
          <a:bodyPr/>
          <a:lstStyle/>
          <a:p>
            <a:endParaRPr lang="en-IN" sz="900" dirty="0"/>
          </a:p>
        </p:txBody>
      </p:sp>
      <p:sp>
        <p:nvSpPr>
          <p:cNvPr id="20" name="Shape 18"/>
          <p:cNvSpPr/>
          <p:nvPr/>
        </p:nvSpPr>
        <p:spPr>
          <a:xfrm>
            <a:off x="6025896" y="2423160"/>
            <a:ext cx="2697480" cy="64008"/>
          </a:xfrm>
          <a:prstGeom prst="rect">
            <a:avLst/>
          </a:prstGeom>
          <a:solidFill>
            <a:srgbClr val="00796B"/>
          </a:solidFill>
        </p:spPr>
      </p:sp>
      <p:sp>
        <p:nvSpPr>
          <p:cNvPr id="21" name="Text 19"/>
          <p:cNvSpPr/>
          <p:nvPr/>
        </p:nvSpPr>
        <p:spPr>
          <a:xfrm>
            <a:off x="6122924" y="2584323"/>
            <a:ext cx="2468880" cy="411480"/>
          </a:xfrm>
          <a:prstGeom prst="rect">
            <a:avLst/>
          </a:prstGeom>
          <a:noFill/>
        </p:spPr>
        <p:txBody>
          <a:bodyPr wrap="square" lIns="0" tIns="0" rIns="0" bIns="0" rtlCol="0" anchor="ctr"/>
          <a:lstStyle/>
          <a:p>
            <a:pPr marL="0" indent="0">
              <a:buNone/>
            </a:pPr>
            <a:endParaRPr lang="en-US" altLang="en-US" sz="1200" dirty="0"/>
          </a:p>
        </p:txBody>
      </p:sp>
      <p:sp>
        <p:nvSpPr>
          <p:cNvPr id="22" name="Text 20"/>
          <p:cNvSpPr/>
          <p:nvPr/>
        </p:nvSpPr>
        <p:spPr>
          <a:xfrm>
            <a:off x="6135624" y="2990088"/>
            <a:ext cx="2468880" cy="1645920"/>
          </a:xfrm>
          <a:prstGeom prst="rect">
            <a:avLst/>
          </a:prstGeom>
          <a:noFill/>
        </p:spPr>
        <p:txBody>
          <a:bodyPr wrap="square" lIns="0" tIns="0" rIns="0" bIns="0" rtlCol="0" anchor="ctr"/>
          <a:lstStyle/>
          <a:p>
            <a:pPr marL="0" indent="0">
              <a:lnSpc>
                <a:spcPct val="120000"/>
              </a:lnSpc>
              <a:buNone/>
            </a:pPr>
            <a:endParaRPr lang="en-US" altLang="en-US" sz="1100" dirty="0"/>
          </a:p>
        </p:txBody>
      </p:sp>
      <p:sp>
        <p:nvSpPr>
          <p:cNvPr id="24" name="Rectangle 2">
            <a:extLst>
              <a:ext uri="{FF2B5EF4-FFF2-40B4-BE49-F238E27FC236}">
                <a16:creationId xmlns:a16="http://schemas.microsoft.com/office/drawing/2014/main" id="{FB91DE85-D435-32D8-E2E6-FFD77F879CF5}"/>
              </a:ext>
            </a:extLst>
          </p:cNvPr>
          <p:cNvSpPr>
            <a:spLocks noChangeArrowheads="1"/>
          </p:cNvSpPr>
          <p:nvPr/>
        </p:nvSpPr>
        <p:spPr bwMode="auto">
          <a:xfrm>
            <a:off x="6072423" y="2335573"/>
            <a:ext cx="284297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lumMod val="75000"/>
                  </a:schemeClr>
                </a:solidFill>
                <a:effectLst/>
                <a:latin typeface="Tw Cen MT (Body)"/>
              </a:rPr>
              <a:t>The project is divided into separate files to make the code more organized and easy to understand.</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bg2">
                    <a:lumMod val="75000"/>
                  </a:schemeClr>
                </a:solidFill>
                <a:effectLst/>
                <a:latin typeface="Tw Cen MT (Body)"/>
              </a:rPr>
              <a:t> </a:t>
            </a:r>
          </a:p>
          <a:p>
            <a:pPr lvl="0" defTabSz="914400" eaLnBrk="0" fontAlgn="base" hangingPunct="0">
              <a:spcBef>
                <a:spcPct val="0"/>
              </a:spcBef>
              <a:spcAft>
                <a:spcPct val="0"/>
              </a:spcAft>
              <a:buFontTx/>
              <a:buChar char="•"/>
            </a:pPr>
            <a:r>
              <a:rPr lang="en-US" sz="1400" dirty="0">
                <a:solidFill>
                  <a:schemeClr val="bg2">
                    <a:lumMod val="75000"/>
                  </a:schemeClr>
                </a:solidFill>
              </a:rPr>
              <a:t>The main file controls the program flow and user interaction, while the module file handles logic like score calculation and risk prediction.</a:t>
            </a:r>
            <a:endParaRPr kumimoji="0" lang="en-US" altLang="en-US" sz="1400" b="0" i="0" u="none" strike="noStrike" cap="none" normalizeH="0" baseline="0" dirty="0">
              <a:ln>
                <a:noFill/>
              </a:ln>
              <a:solidFill>
                <a:schemeClr val="bg2">
                  <a:lumMod val="75000"/>
                </a:schemeClr>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502920" y="45720"/>
            <a:ext cx="8412480" cy="566928"/>
          </a:xfrm>
          <a:prstGeom prst="rect">
            <a:avLst/>
          </a:prstGeom>
          <a:noFill/>
        </p:spPr>
        <p:txBody>
          <a:bodyPr wrap="square" lIns="0" tIns="0" rIns="0" bIns="0" rtlCol="0" anchor="ctr"/>
          <a:lstStyle/>
          <a:p>
            <a:r>
              <a:rPr lang="en-US" sz="2200" b="1" dirty="0">
                <a:solidFill>
                  <a:srgbClr val="FFFFFF"/>
                </a:solidFill>
                <a:latin typeface="Trebuchet MS" panose="020B0703020202090204" pitchFamily="34" charset="0"/>
              </a:rPr>
              <a:t>SYSTEM ARCHITECUTURE</a:t>
            </a:r>
          </a:p>
        </p:txBody>
      </p:sp>
      <p:sp>
        <p:nvSpPr>
          <p:cNvPr id="5" name="Shape 3"/>
          <p:cNvSpPr/>
          <p:nvPr/>
        </p:nvSpPr>
        <p:spPr>
          <a:xfrm>
            <a:off x="0" y="4892040"/>
            <a:ext cx="9144000" cy="251460"/>
          </a:xfrm>
          <a:prstGeom prst="rect">
            <a:avLst/>
          </a:prstGeom>
          <a:solidFill>
            <a:srgbClr val="00796B"/>
          </a:solidFill>
        </p:spPr>
      </p:sp>
      <p:sp>
        <p:nvSpPr>
          <p:cNvPr id="6" name="Text 4"/>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Text 5"/>
          <p:cNvSpPr/>
          <p:nvPr/>
        </p:nvSpPr>
        <p:spPr>
          <a:xfrm>
            <a:off x="365760" y="777239"/>
            <a:ext cx="8412480" cy="658367"/>
          </a:xfrm>
          <a:prstGeom prst="rect">
            <a:avLst/>
          </a:prstGeom>
          <a:solidFill>
            <a:srgbClr val="00796B"/>
          </a:solidFill>
        </p:spPr>
        <p:txBody>
          <a:bodyPr wrap="square" lIns="63500" tIns="63500" rIns="63500" bIns="63500" rtlCol="0" anchor="ctr"/>
          <a:lstStyle/>
          <a:p>
            <a:r>
              <a:rPr lang="en-US" sz="1100" dirty="0"/>
              <a:t>The system follows a modular architecture where the main file handles user interaction and data management, while the module file processes health calculations and risk analysis, with all patient data stored in an Excel database.</a:t>
            </a:r>
          </a:p>
        </p:txBody>
      </p:sp>
      <p:sp>
        <p:nvSpPr>
          <p:cNvPr id="16" name="Text 14"/>
          <p:cNvSpPr/>
          <p:nvPr/>
        </p:nvSpPr>
        <p:spPr>
          <a:xfrm>
            <a:off x="804672" y="2066544"/>
            <a:ext cx="7863840" cy="256032"/>
          </a:xfrm>
          <a:prstGeom prst="rect">
            <a:avLst/>
          </a:prstGeom>
          <a:noFill/>
        </p:spPr>
        <p:txBody>
          <a:bodyPr wrap="square" lIns="0" tIns="0" rIns="0" bIns="0" rtlCol="0" anchor="ctr"/>
          <a:lstStyle/>
          <a:p>
            <a:pPr marL="0" indent="0">
              <a:buNone/>
            </a:pPr>
            <a:endParaRPr lang="en-US" altLang="en-US" sz="1050" b="1" dirty="0"/>
          </a:p>
        </p:txBody>
      </p:sp>
      <p:sp>
        <p:nvSpPr>
          <p:cNvPr id="33" name="Shape 3">
            <a:extLst>
              <a:ext uri="{FF2B5EF4-FFF2-40B4-BE49-F238E27FC236}">
                <a16:creationId xmlns:a16="http://schemas.microsoft.com/office/drawing/2014/main" id="{F89E20EF-1D92-2FB1-D146-66C8C7B398D8}"/>
              </a:ext>
            </a:extLst>
          </p:cNvPr>
          <p:cNvSpPr/>
          <p:nvPr/>
        </p:nvSpPr>
        <p:spPr>
          <a:xfrm>
            <a:off x="3231751" y="2061972"/>
            <a:ext cx="2351314" cy="1289304"/>
          </a:xfrm>
          <a:prstGeom prst="rect">
            <a:avLst/>
          </a:prstGeom>
          <a:solidFill>
            <a:srgbClr val="1ABC9C"/>
          </a:solidFill>
          <a:ln w="12700">
            <a:solidFill>
              <a:srgbClr val="1ABC9C"/>
            </a:solidFill>
            <a:prstDash val="solid"/>
          </a:ln>
          <a:effectLst>
            <a:outerShdw blurRad="63500" dist="25400" dir="8100000" algn="bl" rotWithShape="0">
              <a:srgbClr val="000000">
                <a:alpha val="15000"/>
              </a:srgbClr>
            </a:outerShdw>
          </a:effectLst>
        </p:spPr>
        <p:txBody>
          <a:bodyPr/>
          <a:lstStyle/>
          <a:p>
            <a:endParaRPr lang="en-US" b="1" dirty="0">
              <a:solidFill>
                <a:schemeClr val="bg2"/>
              </a:solidFill>
              <a:latin typeface="Trebuchet MS" panose="020B0603020202020204" pitchFamily="34" charset="0"/>
              <a:ea typeface="Calibri" pitchFamily="34" charset="-122"/>
              <a:cs typeface="Calibri" pitchFamily="34" charset="-120"/>
            </a:endParaRPr>
          </a:p>
          <a:p>
            <a:r>
              <a:rPr lang="en-US" b="1" dirty="0">
                <a:solidFill>
                  <a:schemeClr val="bg2"/>
                </a:solidFill>
                <a:latin typeface="Trebuchet MS" panose="020B0603020202020204" pitchFamily="34" charset="0"/>
                <a:ea typeface="Calibri" pitchFamily="34" charset="-122"/>
                <a:cs typeface="Calibri" pitchFamily="34" charset="-120"/>
              </a:rPr>
              <a:t>   Backend Logic</a:t>
            </a:r>
            <a:endParaRPr lang="en-US" dirty="0">
              <a:solidFill>
                <a:schemeClr val="bg2"/>
              </a:solidFill>
              <a:latin typeface="Trebuchet MS" panose="020B0603020202020204" pitchFamily="34" charset="0"/>
            </a:endParaRPr>
          </a:p>
          <a:p>
            <a:r>
              <a:rPr lang="en-US" i="1" dirty="0">
                <a:solidFill>
                  <a:srgbClr val="B20000"/>
                </a:solidFill>
                <a:latin typeface="Calibri" pitchFamily="34" charset="0"/>
                <a:ea typeface="Calibri" pitchFamily="34" charset="-122"/>
                <a:cs typeface="Calibri" pitchFamily="34" charset="-120"/>
              </a:rPr>
              <a:t>             </a:t>
            </a:r>
            <a:r>
              <a:rPr lang="en-US" i="1" dirty="0">
                <a:solidFill>
                  <a:srgbClr val="B20000"/>
                </a:solidFill>
                <a:latin typeface="Tw Cen MT (Body)"/>
                <a:ea typeface="Calibri" pitchFamily="34" charset="-122"/>
                <a:cs typeface="Calibri" pitchFamily="34" charset="-120"/>
              </a:rPr>
              <a:t>Python</a:t>
            </a:r>
            <a:endParaRPr lang="en-US" dirty="0">
              <a:solidFill>
                <a:srgbClr val="B20000"/>
              </a:solidFill>
              <a:latin typeface="Tw Cen MT (Body)"/>
            </a:endParaRPr>
          </a:p>
          <a:p>
            <a:endParaRPr lang="en-IN" dirty="0"/>
          </a:p>
        </p:txBody>
      </p:sp>
      <p:sp>
        <p:nvSpPr>
          <p:cNvPr id="8" name="Shape 6"/>
          <p:cNvSpPr/>
          <p:nvPr/>
        </p:nvSpPr>
        <p:spPr>
          <a:xfrm>
            <a:off x="513370" y="2052828"/>
            <a:ext cx="2351314" cy="1298448"/>
          </a:xfrm>
          <a:prstGeom prst="rect">
            <a:avLst/>
          </a:prstGeom>
          <a:solidFill>
            <a:srgbClr val="FFB300"/>
          </a:solidFill>
        </p:spPr>
        <p:txBody>
          <a:bodyPr/>
          <a:lstStyle/>
          <a:p>
            <a:pPr algn="ctr"/>
            <a:endParaRPr lang="en-US" b="1" dirty="0">
              <a:solidFill>
                <a:schemeClr val="bg1">
                  <a:lumMod val="95000"/>
                  <a:lumOff val="5000"/>
                </a:schemeClr>
              </a:solidFill>
              <a:latin typeface="Trebuchet MS" panose="020B0603020202020204" pitchFamily="34" charset="0"/>
              <a:ea typeface="Calibri" pitchFamily="34" charset="-122"/>
              <a:cs typeface="Calibri" pitchFamily="34" charset="-120"/>
            </a:endParaRPr>
          </a:p>
          <a:p>
            <a:pPr algn="ctr"/>
            <a:r>
              <a:rPr lang="en-US" b="1" dirty="0">
                <a:solidFill>
                  <a:schemeClr val="bg2"/>
                </a:solidFill>
                <a:latin typeface="Trebuchet MS" panose="020B0603020202020204" pitchFamily="34" charset="0"/>
                <a:ea typeface="Calibri" pitchFamily="34" charset="-122"/>
                <a:cs typeface="Calibri" pitchFamily="34" charset="-120"/>
              </a:rPr>
              <a:t>User</a:t>
            </a:r>
            <a:r>
              <a:rPr lang="en-US" b="1" dirty="0">
                <a:solidFill>
                  <a:schemeClr val="bg1">
                    <a:lumMod val="95000"/>
                    <a:lumOff val="5000"/>
                  </a:schemeClr>
                </a:solidFill>
                <a:latin typeface="Trebuchet MS" panose="020B0603020202020204" pitchFamily="34" charset="0"/>
                <a:ea typeface="Calibri" pitchFamily="34" charset="-122"/>
                <a:cs typeface="Calibri" pitchFamily="34" charset="-120"/>
              </a:rPr>
              <a:t> </a:t>
            </a:r>
            <a:r>
              <a:rPr lang="en-US" b="1" dirty="0">
                <a:solidFill>
                  <a:schemeClr val="bg2"/>
                </a:solidFill>
                <a:latin typeface="Trebuchet MS" panose="020B0603020202020204" pitchFamily="34" charset="0"/>
                <a:ea typeface="Calibri" pitchFamily="34" charset="-122"/>
                <a:cs typeface="Calibri" pitchFamily="34" charset="-120"/>
              </a:rPr>
              <a:t>Input</a:t>
            </a:r>
          </a:p>
          <a:p>
            <a:pPr algn="ctr"/>
            <a:r>
              <a:rPr lang="en-US" b="1" i="1" dirty="0">
                <a:solidFill>
                  <a:srgbClr val="003100"/>
                </a:solidFill>
                <a:latin typeface="Tw Cen MT (Body)"/>
                <a:ea typeface="Calibri" pitchFamily="34" charset="-122"/>
                <a:cs typeface="Calibri" pitchFamily="34" charset="-120"/>
              </a:rPr>
              <a:t>Health parameter</a:t>
            </a:r>
          </a:p>
          <a:p>
            <a:pPr algn="ctr"/>
            <a:endParaRPr lang="en-US" dirty="0">
              <a:solidFill>
                <a:schemeClr val="bg2"/>
              </a:solidFill>
              <a:latin typeface="Trebuchet MS" panose="020B0603020202020204" pitchFamily="34" charset="0"/>
            </a:endParaRPr>
          </a:p>
        </p:txBody>
      </p:sp>
      <p:sp>
        <p:nvSpPr>
          <p:cNvPr id="34" name="Shape 9">
            <a:extLst>
              <a:ext uri="{FF2B5EF4-FFF2-40B4-BE49-F238E27FC236}">
                <a16:creationId xmlns:a16="http://schemas.microsoft.com/office/drawing/2014/main" id="{D0425B14-8321-7A8D-E4BB-27052F90F61E}"/>
              </a:ext>
            </a:extLst>
          </p:cNvPr>
          <p:cNvSpPr/>
          <p:nvPr/>
        </p:nvSpPr>
        <p:spPr>
          <a:xfrm>
            <a:off x="5950131" y="2066544"/>
            <a:ext cx="2351314" cy="1289304"/>
          </a:xfrm>
          <a:prstGeom prst="rect">
            <a:avLst/>
          </a:prstGeom>
          <a:solidFill>
            <a:srgbClr val="0D2B55"/>
          </a:solidFill>
          <a:ln w="12700">
            <a:solidFill>
              <a:srgbClr val="0D2B55"/>
            </a:solidFill>
            <a:prstDash val="solid"/>
          </a:ln>
          <a:effectLst>
            <a:outerShdw blurRad="63500" dist="25400" dir="8100000" algn="bl" rotWithShape="0">
              <a:srgbClr val="000000">
                <a:alpha val="15000"/>
              </a:srgbClr>
            </a:outerShdw>
          </a:effectLst>
        </p:spPr>
        <p:txBody>
          <a:bodyPr/>
          <a:lstStyle/>
          <a:p>
            <a:endParaRPr lang="en-US" b="1" dirty="0">
              <a:solidFill>
                <a:srgbClr val="FFFFFF"/>
              </a:solidFill>
              <a:latin typeface="Trebuchet MS" panose="020B0603020202020204" pitchFamily="34" charset="0"/>
              <a:ea typeface="Calibri" pitchFamily="34" charset="-122"/>
              <a:cs typeface="Calibri" pitchFamily="34" charset="-120"/>
            </a:endParaRPr>
          </a:p>
          <a:p>
            <a:r>
              <a:rPr lang="en-US" b="1" dirty="0">
                <a:solidFill>
                  <a:srgbClr val="FFFFFF"/>
                </a:solidFill>
                <a:latin typeface="Trebuchet MS" panose="020B0603020202020204" pitchFamily="34" charset="0"/>
                <a:ea typeface="Calibri" pitchFamily="34" charset="-122"/>
                <a:cs typeface="Calibri" pitchFamily="34" charset="-120"/>
              </a:rPr>
              <a:t>     Data Storage</a:t>
            </a:r>
            <a:endParaRPr lang="en-US" dirty="0">
              <a:latin typeface="Trebuchet MS" panose="020B0603020202020204" pitchFamily="34" charset="0"/>
            </a:endParaRPr>
          </a:p>
          <a:p>
            <a:endParaRPr lang="en-IN" dirty="0"/>
          </a:p>
        </p:txBody>
      </p:sp>
      <p:sp>
        <p:nvSpPr>
          <p:cNvPr id="36" name="TextBox 35">
            <a:extLst>
              <a:ext uri="{FF2B5EF4-FFF2-40B4-BE49-F238E27FC236}">
                <a16:creationId xmlns:a16="http://schemas.microsoft.com/office/drawing/2014/main" id="{63B89A85-779F-C024-3E43-A65633A1B9EC}"/>
              </a:ext>
            </a:extLst>
          </p:cNvPr>
          <p:cNvSpPr txBox="1"/>
          <p:nvPr/>
        </p:nvSpPr>
        <p:spPr>
          <a:xfrm>
            <a:off x="6534694" y="2702052"/>
            <a:ext cx="1551791" cy="369332"/>
          </a:xfrm>
          <a:prstGeom prst="rect">
            <a:avLst/>
          </a:prstGeom>
          <a:noFill/>
        </p:spPr>
        <p:txBody>
          <a:bodyPr wrap="square">
            <a:spAutoFit/>
          </a:bodyPr>
          <a:lstStyle/>
          <a:p>
            <a:r>
              <a:rPr lang="en-IN" dirty="0">
                <a:latin typeface="Tw Cen MT (Body)"/>
              </a:rPr>
              <a:t>Excel file</a:t>
            </a:r>
            <a:endParaRPr lang="en-IN" dirty="0">
              <a:solidFill>
                <a:schemeClr val="tx1">
                  <a:lumMod val="95000"/>
                </a:schemeClr>
              </a:solidFill>
              <a:latin typeface="Tw Cen MT (Body)"/>
            </a:endParaRPr>
          </a:p>
        </p:txBody>
      </p:sp>
      <p:sp>
        <p:nvSpPr>
          <p:cNvPr id="38" name="TextBox 37">
            <a:extLst>
              <a:ext uri="{FF2B5EF4-FFF2-40B4-BE49-F238E27FC236}">
                <a16:creationId xmlns:a16="http://schemas.microsoft.com/office/drawing/2014/main" id="{4CECF823-1D78-A963-BC36-3BD70175CB03}"/>
              </a:ext>
            </a:extLst>
          </p:cNvPr>
          <p:cNvSpPr txBox="1"/>
          <p:nvPr/>
        </p:nvSpPr>
        <p:spPr>
          <a:xfrm>
            <a:off x="1386295" y="3934168"/>
            <a:ext cx="7391945" cy="338554"/>
          </a:xfrm>
          <a:prstGeom prst="rect">
            <a:avLst/>
          </a:prstGeom>
          <a:noFill/>
        </p:spPr>
        <p:txBody>
          <a:bodyPr wrap="square">
            <a:spAutoFit/>
          </a:bodyPr>
          <a:lstStyle/>
          <a:p>
            <a:r>
              <a:rPr lang="en-IN" sz="1600" dirty="0">
                <a:solidFill>
                  <a:srgbClr val="002060"/>
                </a:solidFill>
              </a:rPr>
              <a:t>“</a:t>
            </a:r>
            <a:r>
              <a:rPr lang="en-IN" sz="1600" dirty="0">
                <a:solidFill>
                  <a:schemeClr val="bg2">
                    <a:lumMod val="75000"/>
                  </a:schemeClr>
                </a:solidFill>
              </a:rPr>
              <a:t>Input → Processing → Storage → Output system using modular design.”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D4CA-7A47-B512-1D59-AABCC6A264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682F41-4A5B-DD18-61A0-4A5FB3D4B0FD}"/>
              </a:ext>
            </a:extLst>
          </p:cNvPr>
          <p:cNvSpPr/>
          <p:nvPr/>
        </p:nvSpPr>
        <p:spPr>
          <a:xfrm>
            <a:off x="0" y="0"/>
            <a:ext cx="9144000" cy="5143500"/>
          </a:xfrm>
          <a:prstGeom prst="rect">
            <a:avLst/>
          </a:prstGeom>
          <a:solidFill>
            <a:srgbClr val="0A1F2E"/>
          </a:solidFill>
        </p:spPr>
      </p:sp>
      <p:sp>
        <p:nvSpPr>
          <p:cNvPr id="3" name="Shape 1">
            <a:extLst>
              <a:ext uri="{FF2B5EF4-FFF2-40B4-BE49-F238E27FC236}">
                <a16:creationId xmlns:a16="http://schemas.microsoft.com/office/drawing/2014/main" id="{8D2E8210-A564-BBE0-82C2-A54D869DDD6E}"/>
              </a:ext>
            </a:extLst>
          </p:cNvPr>
          <p:cNvSpPr/>
          <p:nvPr/>
        </p:nvSpPr>
        <p:spPr>
          <a:xfrm>
            <a:off x="0" y="0"/>
            <a:ext cx="320040" cy="5143500"/>
          </a:xfrm>
          <a:prstGeom prst="rect">
            <a:avLst/>
          </a:prstGeom>
          <a:solidFill>
            <a:srgbClr val="00796B"/>
          </a:solidFill>
        </p:spPr>
      </p:sp>
      <p:sp>
        <p:nvSpPr>
          <p:cNvPr id="4" name="Shape 2">
            <a:extLst>
              <a:ext uri="{FF2B5EF4-FFF2-40B4-BE49-F238E27FC236}">
                <a16:creationId xmlns:a16="http://schemas.microsoft.com/office/drawing/2014/main" id="{5578C9EA-DAE0-AFE8-82D0-E2310692585A}"/>
              </a:ext>
            </a:extLst>
          </p:cNvPr>
          <p:cNvSpPr/>
          <p:nvPr/>
        </p:nvSpPr>
        <p:spPr>
          <a:xfrm>
            <a:off x="8823960" y="0"/>
            <a:ext cx="320040" cy="5143500"/>
          </a:xfrm>
          <a:prstGeom prst="rect">
            <a:avLst/>
          </a:prstGeom>
          <a:solidFill>
            <a:srgbClr val="FFB300"/>
          </a:solidFill>
        </p:spPr>
      </p:sp>
      <p:sp>
        <p:nvSpPr>
          <p:cNvPr id="5" name="Shape 3">
            <a:extLst>
              <a:ext uri="{FF2B5EF4-FFF2-40B4-BE49-F238E27FC236}">
                <a16:creationId xmlns:a16="http://schemas.microsoft.com/office/drawing/2014/main" id="{E2071598-D6C7-E168-2709-D55A4E04E2EB}"/>
              </a:ext>
            </a:extLst>
          </p:cNvPr>
          <p:cNvSpPr/>
          <p:nvPr/>
        </p:nvSpPr>
        <p:spPr>
          <a:xfrm>
            <a:off x="6858000" y="-731520"/>
            <a:ext cx="3200400" cy="3200400"/>
          </a:xfrm>
          <a:prstGeom prst="ellipse">
            <a:avLst/>
          </a:prstGeom>
          <a:solidFill>
            <a:srgbClr val="00796B">
              <a:alpha val="18000"/>
            </a:srgbClr>
          </a:solidFill>
          <a:ln w="12700">
            <a:solidFill>
              <a:srgbClr val="00796B"/>
            </a:solidFill>
            <a:prstDash val="solid"/>
          </a:ln>
        </p:spPr>
      </p:sp>
      <p:sp>
        <p:nvSpPr>
          <p:cNvPr id="6" name="Shape 4">
            <a:extLst>
              <a:ext uri="{FF2B5EF4-FFF2-40B4-BE49-F238E27FC236}">
                <a16:creationId xmlns:a16="http://schemas.microsoft.com/office/drawing/2014/main" id="{B39EAAB7-4A02-8301-2458-965266078274}"/>
              </a:ext>
            </a:extLst>
          </p:cNvPr>
          <p:cNvSpPr/>
          <p:nvPr/>
        </p:nvSpPr>
        <p:spPr>
          <a:xfrm>
            <a:off x="7772400" y="2926080"/>
            <a:ext cx="2286000" cy="2286000"/>
          </a:xfrm>
          <a:prstGeom prst="ellipse">
            <a:avLst/>
          </a:prstGeom>
          <a:solidFill>
            <a:srgbClr val="26A69A">
              <a:alpha val="15000"/>
            </a:srgbClr>
          </a:solidFill>
          <a:ln w="12700">
            <a:solidFill>
              <a:srgbClr val="26A69A"/>
            </a:solidFill>
            <a:prstDash val="solid"/>
          </a:ln>
        </p:spPr>
      </p:sp>
      <p:sp>
        <p:nvSpPr>
          <p:cNvPr id="7" name="Text 5">
            <a:extLst>
              <a:ext uri="{FF2B5EF4-FFF2-40B4-BE49-F238E27FC236}">
                <a16:creationId xmlns:a16="http://schemas.microsoft.com/office/drawing/2014/main" id="{9180F7C3-55D8-6CD6-2287-D850A7B56869}"/>
              </a:ext>
            </a:extLst>
          </p:cNvPr>
          <p:cNvSpPr/>
          <p:nvPr/>
        </p:nvSpPr>
        <p:spPr>
          <a:xfrm>
            <a:off x="640080" y="498475"/>
            <a:ext cx="6858000" cy="1097280"/>
          </a:xfrm>
          <a:prstGeom prst="rect">
            <a:avLst/>
          </a:prstGeom>
          <a:noFill/>
        </p:spPr>
        <p:txBody>
          <a:bodyPr wrap="square" lIns="0" tIns="0" rIns="0" bIns="0" rtlCol="0" anchor="ctr"/>
          <a:lstStyle/>
          <a:p>
            <a:r>
              <a:rPr lang="en-IN" sz="4000" dirty="0"/>
              <a:t>WORKING PROCESS</a:t>
            </a:r>
            <a:endParaRPr lang="en-US" sz="4000" dirty="0"/>
          </a:p>
        </p:txBody>
      </p:sp>
      <p:sp>
        <p:nvSpPr>
          <p:cNvPr id="8" name="Text 6">
            <a:extLst>
              <a:ext uri="{FF2B5EF4-FFF2-40B4-BE49-F238E27FC236}">
                <a16:creationId xmlns:a16="http://schemas.microsoft.com/office/drawing/2014/main" id="{342353D7-0281-A4A1-F469-BC4AC1C985D0}"/>
              </a:ext>
            </a:extLst>
          </p:cNvPr>
          <p:cNvSpPr/>
          <p:nvPr/>
        </p:nvSpPr>
        <p:spPr>
          <a:xfrm>
            <a:off x="640080" y="1758950"/>
            <a:ext cx="6858000" cy="457200"/>
          </a:xfrm>
          <a:prstGeom prst="rect">
            <a:avLst/>
          </a:prstGeom>
          <a:noFill/>
        </p:spPr>
        <p:txBody>
          <a:bodyPr wrap="square" lIns="0" tIns="0" rIns="0" bIns="0" rtlCol="0" anchor="ctr"/>
          <a:lstStyle/>
          <a:p>
            <a:r>
              <a:rPr lang="en-US" sz="1600" dirty="0">
                <a:solidFill>
                  <a:srgbClr val="26A69A"/>
                </a:solidFill>
                <a:latin typeface="Calibri" pitchFamily="34" charset="0"/>
                <a:ea typeface="Calibri" pitchFamily="34" charset="-122"/>
                <a:cs typeface="Calibri" pitchFamily="34" charset="-120"/>
              </a:rPr>
              <a:t>“The system works by taking patient input, processing health data to calculate score and risk, storing the information in Excel, and displaying results based on user selection.”</a:t>
            </a:r>
          </a:p>
        </p:txBody>
      </p:sp>
      <p:sp>
        <p:nvSpPr>
          <p:cNvPr id="16" name="Rectangle 7">
            <a:extLst>
              <a:ext uri="{FF2B5EF4-FFF2-40B4-BE49-F238E27FC236}">
                <a16:creationId xmlns:a16="http://schemas.microsoft.com/office/drawing/2014/main" id="{656167D1-61E8-3E0E-5E5F-66D1E1C55EDC}"/>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F5E47D05-8EA4-43F2-69EB-65D1D0B52B18}"/>
              </a:ext>
            </a:extLst>
          </p:cNvPr>
          <p:cNvSpPr>
            <a:spLocks noChangeArrowheads="1"/>
          </p:cNvSpPr>
          <p:nvPr/>
        </p:nvSpPr>
        <p:spPr bwMode="auto">
          <a:xfrm>
            <a:off x="1195425" y="2579461"/>
            <a:ext cx="4304038"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sz="1300" i="1" dirty="0">
              <a:solidFill>
                <a:srgbClr val="B0BEC5"/>
              </a:solidFill>
              <a:latin typeface="Calibri" pitchFamily="34" charset="0"/>
              <a:ea typeface="Calibri" pitchFamily="34" charset="-122"/>
              <a:cs typeface="Calibri" pitchFamily="34" charset="-12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User selects an option from the menu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Enters patient details and health data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System checks for duplicate ID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Health score is calculated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Risk level is predicted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Suggestions are generated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Data is saved in Excel file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300" i="1" dirty="0">
                <a:solidFill>
                  <a:srgbClr val="B0BEC5"/>
                </a:solidFill>
                <a:latin typeface="Calibri" pitchFamily="34" charset="0"/>
                <a:ea typeface="Calibri" pitchFamily="34" charset="-122"/>
                <a:cs typeface="Calibri" pitchFamily="34" charset="-120"/>
              </a:rPr>
              <a:t>User can search or view all records </a:t>
            </a:r>
          </a:p>
        </p:txBody>
      </p:sp>
      <p:sp>
        <p:nvSpPr>
          <p:cNvPr id="11" name="TextBox 10">
            <a:extLst>
              <a:ext uri="{FF2B5EF4-FFF2-40B4-BE49-F238E27FC236}">
                <a16:creationId xmlns:a16="http://schemas.microsoft.com/office/drawing/2014/main" id="{828A3B1D-1F6D-C1FA-0F0B-BE204F862993}"/>
              </a:ext>
            </a:extLst>
          </p:cNvPr>
          <p:cNvSpPr txBox="1"/>
          <p:nvPr/>
        </p:nvSpPr>
        <p:spPr>
          <a:xfrm>
            <a:off x="776082" y="2468880"/>
            <a:ext cx="3292998" cy="292388"/>
          </a:xfrm>
          <a:prstGeom prst="rect">
            <a:avLst/>
          </a:prstGeom>
          <a:noFill/>
        </p:spPr>
        <p:txBody>
          <a:bodyPr wrap="square" rtlCol="0">
            <a:spAutoFit/>
          </a:bodyPr>
          <a:lstStyle/>
          <a:p>
            <a:pPr defTabSz="914400" eaLnBrk="0" fontAlgn="base" hangingPunct="0">
              <a:spcBef>
                <a:spcPct val="0"/>
              </a:spcBef>
              <a:spcAft>
                <a:spcPct val="0"/>
              </a:spcAft>
            </a:pPr>
            <a:r>
              <a:rPr lang="en-US" sz="1300" i="1" dirty="0">
                <a:solidFill>
                  <a:srgbClr val="B0BEC5"/>
                </a:solidFill>
                <a:latin typeface="Calibri" pitchFamily="34" charset="0"/>
                <a:ea typeface="Calibri" pitchFamily="34" charset="-122"/>
                <a:cs typeface="Calibri" pitchFamily="34" charset="-120"/>
              </a:rPr>
              <a:t>Working Procedure of the System :</a:t>
            </a:r>
          </a:p>
        </p:txBody>
      </p:sp>
    </p:spTree>
    <p:extLst>
      <p:ext uri="{BB962C8B-B14F-4D97-AF65-F5344CB8AC3E}">
        <p14:creationId xmlns:p14="http://schemas.microsoft.com/office/powerpoint/2010/main" val="2450695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a:extLst>
            <a:ext uri="{FF2B5EF4-FFF2-40B4-BE49-F238E27FC236}">
              <a16:creationId xmlns:a16="http://schemas.microsoft.com/office/drawing/2014/main" id="{0AA37013-BCF4-7C9D-9EFF-F81BF15DCD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60A8D06-A62E-2F30-B328-124279E70097}"/>
              </a:ext>
            </a:extLst>
          </p:cNvPr>
          <p:cNvSpPr/>
          <p:nvPr/>
        </p:nvSpPr>
        <p:spPr>
          <a:xfrm>
            <a:off x="0" y="0"/>
            <a:ext cx="9144000" cy="658368"/>
          </a:xfrm>
          <a:prstGeom prst="rect">
            <a:avLst/>
          </a:prstGeom>
          <a:solidFill>
            <a:srgbClr val="0A1F2E"/>
          </a:solidFill>
        </p:spPr>
      </p:sp>
      <p:sp>
        <p:nvSpPr>
          <p:cNvPr id="3" name="Shape 1">
            <a:extLst>
              <a:ext uri="{FF2B5EF4-FFF2-40B4-BE49-F238E27FC236}">
                <a16:creationId xmlns:a16="http://schemas.microsoft.com/office/drawing/2014/main" id="{9733AFEA-F1FB-A1C2-5E79-761A7CAD42B8}"/>
              </a:ext>
            </a:extLst>
          </p:cNvPr>
          <p:cNvSpPr/>
          <p:nvPr/>
        </p:nvSpPr>
        <p:spPr>
          <a:xfrm>
            <a:off x="0" y="0"/>
            <a:ext cx="228600" cy="658368"/>
          </a:xfrm>
          <a:prstGeom prst="rect">
            <a:avLst/>
          </a:prstGeom>
          <a:solidFill>
            <a:srgbClr val="FFB300"/>
          </a:solidFill>
        </p:spPr>
      </p:sp>
      <p:sp>
        <p:nvSpPr>
          <p:cNvPr id="4" name="Text 2">
            <a:extLst>
              <a:ext uri="{FF2B5EF4-FFF2-40B4-BE49-F238E27FC236}">
                <a16:creationId xmlns:a16="http://schemas.microsoft.com/office/drawing/2014/main" id="{C98C93ED-0D2A-BFBD-BD30-5589D5B8C486}"/>
              </a:ext>
            </a:extLst>
          </p:cNvPr>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rPr>
              <a:t>HEALTH PARAMETER USED </a:t>
            </a:r>
            <a:endParaRPr lang="en-US" sz="2200" dirty="0"/>
          </a:p>
        </p:txBody>
      </p:sp>
      <p:sp>
        <p:nvSpPr>
          <p:cNvPr id="5" name="Shape 3">
            <a:extLst>
              <a:ext uri="{FF2B5EF4-FFF2-40B4-BE49-F238E27FC236}">
                <a16:creationId xmlns:a16="http://schemas.microsoft.com/office/drawing/2014/main" id="{A44EF8A0-03FA-BD28-2E9A-488B3903FCF6}"/>
              </a:ext>
            </a:extLst>
          </p:cNvPr>
          <p:cNvSpPr/>
          <p:nvPr/>
        </p:nvSpPr>
        <p:spPr>
          <a:xfrm>
            <a:off x="0" y="4892040"/>
            <a:ext cx="9144000" cy="251460"/>
          </a:xfrm>
          <a:prstGeom prst="rect">
            <a:avLst/>
          </a:prstGeom>
          <a:solidFill>
            <a:srgbClr val="00796B"/>
          </a:solidFill>
        </p:spPr>
      </p:sp>
      <p:sp>
        <p:nvSpPr>
          <p:cNvPr id="6" name="Text 4">
            <a:extLst>
              <a:ext uri="{FF2B5EF4-FFF2-40B4-BE49-F238E27FC236}">
                <a16:creationId xmlns:a16="http://schemas.microsoft.com/office/drawing/2014/main" id="{F9B5A55F-F0C7-2853-B2E7-4E1C6CFF7990}"/>
              </a:ext>
            </a:extLst>
          </p:cNvPr>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Text 5">
            <a:extLst>
              <a:ext uri="{FF2B5EF4-FFF2-40B4-BE49-F238E27FC236}">
                <a16:creationId xmlns:a16="http://schemas.microsoft.com/office/drawing/2014/main" id="{CC476774-2294-5C04-D2D1-537C5DEDA12A}"/>
              </a:ext>
            </a:extLst>
          </p:cNvPr>
          <p:cNvSpPr/>
          <p:nvPr/>
        </p:nvSpPr>
        <p:spPr>
          <a:xfrm>
            <a:off x="365760" y="777240"/>
            <a:ext cx="8412480" cy="457200"/>
          </a:xfrm>
          <a:prstGeom prst="rect">
            <a:avLst/>
          </a:prstGeom>
          <a:solidFill>
            <a:srgbClr val="00796B"/>
          </a:solidFill>
        </p:spPr>
        <p:txBody>
          <a:bodyPr wrap="square" lIns="63500" tIns="63500" rIns="63500" bIns="63500" rtlCol="0" anchor="ctr"/>
          <a:lstStyle/>
          <a:p>
            <a:r>
              <a:rPr lang="en-US" sz="1400" dirty="0"/>
              <a:t>“The system uses key health parameters such as sleep duration, water intake, exercise, heart rate, and Body Mass Index (BMI) to evaluate the overall health condition of a patient.”</a:t>
            </a:r>
          </a:p>
        </p:txBody>
      </p:sp>
      <p:sp>
        <p:nvSpPr>
          <p:cNvPr id="8" name="Shape 6">
            <a:extLst>
              <a:ext uri="{FF2B5EF4-FFF2-40B4-BE49-F238E27FC236}">
                <a16:creationId xmlns:a16="http://schemas.microsoft.com/office/drawing/2014/main" id="{074A1813-2212-0C02-BF64-ABDAE3AE5D2D}"/>
              </a:ext>
            </a:extLst>
          </p:cNvPr>
          <p:cNvSpPr/>
          <p:nvPr/>
        </p:nvSpPr>
        <p:spPr>
          <a:xfrm>
            <a:off x="320040" y="1353312"/>
            <a:ext cx="320040" cy="566928"/>
          </a:xfrm>
          <a:prstGeom prst="rect">
            <a:avLst/>
          </a:prstGeom>
          <a:solidFill>
            <a:srgbClr val="FFB300"/>
          </a:solidFill>
        </p:spPr>
      </p:sp>
      <p:sp>
        <p:nvSpPr>
          <p:cNvPr id="9" name="Text 7">
            <a:extLst>
              <a:ext uri="{FF2B5EF4-FFF2-40B4-BE49-F238E27FC236}">
                <a16:creationId xmlns:a16="http://schemas.microsoft.com/office/drawing/2014/main" id="{1733114A-27BC-A13F-E293-8E69C341D4FE}"/>
              </a:ext>
            </a:extLst>
          </p:cNvPr>
          <p:cNvSpPr/>
          <p:nvPr/>
        </p:nvSpPr>
        <p:spPr>
          <a:xfrm>
            <a:off x="320040" y="1353312"/>
            <a:ext cx="320040" cy="566928"/>
          </a:xfrm>
          <a:prstGeom prst="rect">
            <a:avLst/>
          </a:prstGeom>
          <a:noFill/>
        </p:spPr>
        <p:txBody>
          <a:bodyPr wrap="square" lIns="0" tIns="0" rIns="0" bIns="0" rtlCol="0" anchor="ctr"/>
          <a:lstStyle/>
          <a:p>
            <a:pPr marL="0" indent="0" algn="ctr">
              <a:buNone/>
            </a:pPr>
            <a:r>
              <a:rPr lang="en-US" sz="12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P1</a:t>
            </a:r>
            <a:endParaRPr lang="en-US" sz="1200" dirty="0"/>
          </a:p>
        </p:txBody>
      </p:sp>
      <p:sp>
        <p:nvSpPr>
          <p:cNvPr id="10" name="Shape 8">
            <a:extLst>
              <a:ext uri="{FF2B5EF4-FFF2-40B4-BE49-F238E27FC236}">
                <a16:creationId xmlns:a16="http://schemas.microsoft.com/office/drawing/2014/main" id="{4ACB85CA-3DED-4489-6A11-45B36C11B239}"/>
              </a:ext>
            </a:extLst>
          </p:cNvPr>
          <p:cNvSpPr/>
          <p:nvPr/>
        </p:nvSpPr>
        <p:spPr>
          <a:xfrm>
            <a:off x="685800" y="1353312"/>
            <a:ext cx="8138160" cy="566928"/>
          </a:xfrm>
          <a:prstGeom prst="rect">
            <a:avLst/>
          </a:prstGeom>
          <a:solidFill>
            <a:srgbClr val="FFFFFF"/>
          </a:solidFill>
          <a:effectLst>
            <a:outerShdw blurRad="63500" dist="25400" dir="8100000" algn="bl" rotWithShape="0">
              <a:srgbClr val="000000">
                <a:alpha val="10000"/>
              </a:srgbClr>
            </a:outerShdw>
          </a:effectLst>
        </p:spPr>
      </p:sp>
      <p:sp>
        <p:nvSpPr>
          <p:cNvPr id="11" name="Text 9">
            <a:extLst>
              <a:ext uri="{FF2B5EF4-FFF2-40B4-BE49-F238E27FC236}">
                <a16:creationId xmlns:a16="http://schemas.microsoft.com/office/drawing/2014/main" id="{9207104D-1781-1363-4190-9EC848148B39}"/>
              </a:ext>
            </a:extLst>
          </p:cNvPr>
          <p:cNvSpPr/>
          <p:nvPr/>
        </p:nvSpPr>
        <p:spPr>
          <a:xfrm>
            <a:off x="804672" y="1399159"/>
            <a:ext cx="7863840" cy="256032"/>
          </a:xfrm>
          <a:prstGeom prst="rect">
            <a:avLst/>
          </a:prstGeom>
          <a:noFill/>
        </p:spPr>
        <p:txBody>
          <a:bodyPr wrap="square" lIns="0" tIns="0" rIns="0" bIns="0" rtlCol="0" anchor="ctr"/>
          <a:lstStyle/>
          <a:p>
            <a:pPr marL="0" indent="0">
              <a:buNone/>
            </a:pPr>
            <a:r>
              <a:rPr lang="en-US" altLang="en-US" sz="1050" b="1" dirty="0"/>
              <a:t>Why do people suffer from abdominal pain frequently?</a:t>
            </a:r>
          </a:p>
          <a:p>
            <a:r>
              <a:rPr lang="en-IN" sz="1600" b="1" dirty="0">
                <a:solidFill>
                  <a:srgbClr val="002060"/>
                </a:solidFill>
              </a:rPr>
              <a:t>Sleep (hours):  </a:t>
            </a:r>
            <a:r>
              <a:rPr lang="en-US" sz="1600" dirty="0">
                <a:solidFill>
                  <a:srgbClr val="002060"/>
                </a:solidFill>
              </a:rPr>
              <a:t>Measures the daily sleep duration to assess rest and recovery.</a:t>
            </a:r>
            <a:endParaRPr lang="en-US" altLang="en-US" sz="1600" b="1" dirty="0">
              <a:solidFill>
                <a:srgbClr val="002060"/>
              </a:solidFill>
            </a:endParaRPr>
          </a:p>
        </p:txBody>
      </p:sp>
      <p:sp>
        <p:nvSpPr>
          <p:cNvPr id="12" name="Text 10">
            <a:extLst>
              <a:ext uri="{FF2B5EF4-FFF2-40B4-BE49-F238E27FC236}">
                <a16:creationId xmlns:a16="http://schemas.microsoft.com/office/drawing/2014/main" id="{F379FD54-2BB7-4217-1B24-5E6441F98B96}"/>
              </a:ext>
            </a:extLst>
          </p:cNvPr>
          <p:cNvSpPr/>
          <p:nvPr/>
        </p:nvSpPr>
        <p:spPr>
          <a:xfrm>
            <a:off x="804672" y="1645920"/>
            <a:ext cx="7863840" cy="246888"/>
          </a:xfrm>
          <a:prstGeom prst="rect">
            <a:avLst/>
          </a:prstGeom>
          <a:noFill/>
        </p:spPr>
        <p:txBody>
          <a:bodyPr wrap="square" lIns="0" tIns="0" rIns="0" bIns="0" rtlCol="0" anchor="ctr"/>
          <a:lstStyle/>
          <a:p>
            <a:pPr marL="0" indent="0">
              <a:buNone/>
            </a:pPr>
            <a:endParaRPr lang="en-US" altLang="en-US" sz="1000" dirty="0">
              <a:solidFill>
                <a:schemeClr val="bg2">
                  <a:lumMod val="75000"/>
                </a:schemeClr>
              </a:solidFill>
            </a:endParaRPr>
          </a:p>
        </p:txBody>
      </p:sp>
      <p:sp>
        <p:nvSpPr>
          <p:cNvPr id="13" name="Shape 11">
            <a:extLst>
              <a:ext uri="{FF2B5EF4-FFF2-40B4-BE49-F238E27FC236}">
                <a16:creationId xmlns:a16="http://schemas.microsoft.com/office/drawing/2014/main" id="{3108EBE4-BF02-39C6-4952-1DC5F24F285F}"/>
              </a:ext>
            </a:extLst>
          </p:cNvPr>
          <p:cNvSpPr/>
          <p:nvPr/>
        </p:nvSpPr>
        <p:spPr>
          <a:xfrm>
            <a:off x="320040" y="2039112"/>
            <a:ext cx="320040" cy="566928"/>
          </a:xfrm>
          <a:prstGeom prst="rect">
            <a:avLst/>
          </a:prstGeom>
          <a:solidFill>
            <a:srgbClr val="FFB300"/>
          </a:solidFill>
        </p:spPr>
      </p:sp>
      <p:sp>
        <p:nvSpPr>
          <p:cNvPr id="14" name="Text 12">
            <a:extLst>
              <a:ext uri="{FF2B5EF4-FFF2-40B4-BE49-F238E27FC236}">
                <a16:creationId xmlns:a16="http://schemas.microsoft.com/office/drawing/2014/main" id="{F228B81E-E934-1F72-7846-592B9E61E4AA}"/>
              </a:ext>
            </a:extLst>
          </p:cNvPr>
          <p:cNvSpPr/>
          <p:nvPr/>
        </p:nvSpPr>
        <p:spPr>
          <a:xfrm>
            <a:off x="320040" y="2039112"/>
            <a:ext cx="320040" cy="566928"/>
          </a:xfrm>
          <a:prstGeom prst="rect">
            <a:avLst/>
          </a:prstGeom>
          <a:noFill/>
        </p:spPr>
        <p:txBody>
          <a:bodyPr wrap="square" lIns="0" tIns="0" rIns="0" bIns="0" rtlCol="0" anchor="ctr"/>
          <a:lstStyle/>
          <a:p>
            <a:pPr marL="0" indent="0" algn="ctr">
              <a:buNone/>
            </a:pPr>
            <a:r>
              <a:rPr lang="en-US" sz="12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P2</a:t>
            </a:r>
            <a:endParaRPr lang="en-US" sz="1200" dirty="0"/>
          </a:p>
        </p:txBody>
      </p:sp>
      <p:sp>
        <p:nvSpPr>
          <p:cNvPr id="15" name="Shape 13">
            <a:extLst>
              <a:ext uri="{FF2B5EF4-FFF2-40B4-BE49-F238E27FC236}">
                <a16:creationId xmlns:a16="http://schemas.microsoft.com/office/drawing/2014/main" id="{31B07E82-1B11-16B2-3DDB-05C158FAA6F3}"/>
              </a:ext>
            </a:extLst>
          </p:cNvPr>
          <p:cNvSpPr/>
          <p:nvPr/>
        </p:nvSpPr>
        <p:spPr>
          <a:xfrm>
            <a:off x="685800" y="2039112"/>
            <a:ext cx="8138160" cy="566928"/>
          </a:xfrm>
          <a:prstGeom prst="rect">
            <a:avLst/>
          </a:prstGeom>
          <a:solidFill>
            <a:srgbClr val="FFFFFF"/>
          </a:solidFill>
          <a:effectLst>
            <a:outerShdw blurRad="63500" dist="25400" dir="8100000" algn="bl" rotWithShape="0">
              <a:srgbClr val="000000">
                <a:alpha val="10000"/>
              </a:srgbClr>
            </a:outerShdw>
          </a:effectLst>
        </p:spPr>
      </p:sp>
      <p:sp>
        <p:nvSpPr>
          <p:cNvPr id="16" name="Text 14">
            <a:extLst>
              <a:ext uri="{FF2B5EF4-FFF2-40B4-BE49-F238E27FC236}">
                <a16:creationId xmlns:a16="http://schemas.microsoft.com/office/drawing/2014/main" id="{DEA7F71D-E347-4416-4328-3D64919A8EAB}"/>
              </a:ext>
            </a:extLst>
          </p:cNvPr>
          <p:cNvSpPr/>
          <p:nvPr/>
        </p:nvSpPr>
        <p:spPr>
          <a:xfrm>
            <a:off x="804672" y="2066544"/>
            <a:ext cx="7863840" cy="256032"/>
          </a:xfrm>
          <a:prstGeom prst="rect">
            <a:avLst/>
          </a:prstGeom>
          <a:noFill/>
        </p:spPr>
        <p:txBody>
          <a:bodyPr wrap="square" lIns="0" tIns="0" rIns="0" bIns="0" rtlCol="0" anchor="ctr"/>
          <a:lstStyle/>
          <a:p>
            <a:pPr marL="0" indent="0">
              <a:buNone/>
            </a:pPr>
            <a:r>
              <a:rPr lang="en-US" altLang="en-US" sz="1050" b="1" dirty="0"/>
              <a:t>Why does the pain increase during daily activities?</a:t>
            </a:r>
          </a:p>
          <a:p>
            <a:pPr marL="0" indent="0">
              <a:buNone/>
            </a:pPr>
            <a:endParaRPr lang="en-US" altLang="en-US" sz="1050" b="1" dirty="0"/>
          </a:p>
        </p:txBody>
      </p:sp>
      <p:sp>
        <p:nvSpPr>
          <p:cNvPr id="17" name="Text 15">
            <a:extLst>
              <a:ext uri="{FF2B5EF4-FFF2-40B4-BE49-F238E27FC236}">
                <a16:creationId xmlns:a16="http://schemas.microsoft.com/office/drawing/2014/main" id="{B6B99CA4-056C-CDB5-A378-F463D5A063D7}"/>
              </a:ext>
            </a:extLst>
          </p:cNvPr>
          <p:cNvSpPr/>
          <p:nvPr/>
        </p:nvSpPr>
        <p:spPr>
          <a:xfrm>
            <a:off x="804672" y="2242747"/>
            <a:ext cx="7863840" cy="246888"/>
          </a:xfrm>
          <a:prstGeom prst="rect">
            <a:avLst/>
          </a:prstGeom>
          <a:noFill/>
        </p:spPr>
        <p:txBody>
          <a:bodyPr wrap="square" lIns="0" tIns="0" rIns="0" bIns="0" rtlCol="0" anchor="ctr"/>
          <a:lstStyle/>
          <a:p>
            <a:r>
              <a:rPr lang="en-US" sz="1600" b="1" dirty="0">
                <a:solidFill>
                  <a:srgbClr val="002060"/>
                </a:solidFill>
              </a:rPr>
              <a:t>Water intake (liters):</a:t>
            </a:r>
            <a:r>
              <a:rPr lang="en-US" sz="1600" dirty="0">
                <a:solidFill>
                  <a:srgbClr val="002060"/>
                </a:solidFill>
              </a:rPr>
              <a:t> Tracks hydration level essential for body functions.</a:t>
            </a:r>
            <a:endParaRPr lang="en-US" altLang="en-US" sz="1600" dirty="0">
              <a:solidFill>
                <a:srgbClr val="002060"/>
              </a:solidFill>
            </a:endParaRPr>
          </a:p>
        </p:txBody>
      </p:sp>
      <p:sp>
        <p:nvSpPr>
          <p:cNvPr id="18" name="Shape 16">
            <a:extLst>
              <a:ext uri="{FF2B5EF4-FFF2-40B4-BE49-F238E27FC236}">
                <a16:creationId xmlns:a16="http://schemas.microsoft.com/office/drawing/2014/main" id="{AA835291-199F-0C41-5703-6AB038AFE95F}"/>
              </a:ext>
            </a:extLst>
          </p:cNvPr>
          <p:cNvSpPr/>
          <p:nvPr/>
        </p:nvSpPr>
        <p:spPr>
          <a:xfrm>
            <a:off x="320040" y="2724912"/>
            <a:ext cx="320040" cy="566928"/>
          </a:xfrm>
          <a:prstGeom prst="rect">
            <a:avLst/>
          </a:prstGeom>
          <a:solidFill>
            <a:srgbClr val="FFB300"/>
          </a:solidFill>
        </p:spPr>
      </p:sp>
      <p:sp>
        <p:nvSpPr>
          <p:cNvPr id="19" name="Text 17">
            <a:extLst>
              <a:ext uri="{FF2B5EF4-FFF2-40B4-BE49-F238E27FC236}">
                <a16:creationId xmlns:a16="http://schemas.microsoft.com/office/drawing/2014/main" id="{6126EA4A-0FFC-18CC-FB2F-74B108CF90ED}"/>
              </a:ext>
            </a:extLst>
          </p:cNvPr>
          <p:cNvSpPr/>
          <p:nvPr/>
        </p:nvSpPr>
        <p:spPr>
          <a:xfrm>
            <a:off x="320040" y="2724912"/>
            <a:ext cx="320040" cy="566928"/>
          </a:xfrm>
          <a:prstGeom prst="rect">
            <a:avLst/>
          </a:prstGeom>
          <a:noFill/>
        </p:spPr>
        <p:txBody>
          <a:bodyPr wrap="square" lIns="0" tIns="0" rIns="0" bIns="0" rtlCol="0" anchor="ctr"/>
          <a:lstStyle/>
          <a:p>
            <a:pPr marL="0" indent="0" algn="ctr">
              <a:buNone/>
            </a:pPr>
            <a:r>
              <a:rPr lang="en-US" sz="12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P3</a:t>
            </a:r>
            <a:endParaRPr lang="en-US" sz="1200" dirty="0"/>
          </a:p>
        </p:txBody>
      </p:sp>
      <p:sp>
        <p:nvSpPr>
          <p:cNvPr id="20" name="Shape 18">
            <a:extLst>
              <a:ext uri="{FF2B5EF4-FFF2-40B4-BE49-F238E27FC236}">
                <a16:creationId xmlns:a16="http://schemas.microsoft.com/office/drawing/2014/main" id="{7F1DC034-BB27-DB6D-9A89-8DF6B4C30A4A}"/>
              </a:ext>
            </a:extLst>
          </p:cNvPr>
          <p:cNvSpPr/>
          <p:nvPr/>
        </p:nvSpPr>
        <p:spPr>
          <a:xfrm>
            <a:off x="685800" y="2724912"/>
            <a:ext cx="8138160" cy="566928"/>
          </a:xfrm>
          <a:prstGeom prst="rect">
            <a:avLst/>
          </a:prstGeom>
          <a:solidFill>
            <a:srgbClr val="FFFFFF"/>
          </a:solidFill>
          <a:effectLst>
            <a:outerShdw blurRad="63500" dist="25400" dir="8100000" algn="bl" rotWithShape="0">
              <a:srgbClr val="000000">
                <a:alpha val="10000"/>
              </a:srgbClr>
            </a:outerShdw>
          </a:effectLst>
        </p:spPr>
      </p:sp>
      <p:sp>
        <p:nvSpPr>
          <p:cNvPr id="21" name="Text 19">
            <a:extLst>
              <a:ext uri="{FF2B5EF4-FFF2-40B4-BE49-F238E27FC236}">
                <a16:creationId xmlns:a16="http://schemas.microsoft.com/office/drawing/2014/main" id="{FD2AD08E-B373-DEDD-AE7C-956393AD0116}"/>
              </a:ext>
            </a:extLst>
          </p:cNvPr>
          <p:cNvSpPr/>
          <p:nvPr/>
        </p:nvSpPr>
        <p:spPr>
          <a:xfrm>
            <a:off x="804672" y="2752344"/>
            <a:ext cx="7863840" cy="256032"/>
          </a:xfrm>
          <a:prstGeom prst="rect">
            <a:avLst/>
          </a:prstGeom>
          <a:noFill/>
        </p:spPr>
        <p:txBody>
          <a:bodyPr wrap="square" lIns="0" tIns="0" rIns="0" bIns="0" rtlCol="0" anchor="ctr"/>
          <a:lstStyle/>
          <a:p>
            <a:pPr marL="0" indent="0">
              <a:buNone/>
            </a:pPr>
            <a:r>
              <a:rPr lang="en-US" altLang="en-US" sz="1050" b="1" dirty="0"/>
              <a:t>Why do people not treat the pain immediately?</a:t>
            </a:r>
          </a:p>
          <a:p>
            <a:pPr marL="0" indent="0">
              <a:buNone/>
            </a:pPr>
            <a:endParaRPr lang="en-US" altLang="en-US" sz="1050" b="1" dirty="0"/>
          </a:p>
        </p:txBody>
      </p:sp>
      <p:sp>
        <p:nvSpPr>
          <p:cNvPr id="22" name="Text 20">
            <a:extLst>
              <a:ext uri="{FF2B5EF4-FFF2-40B4-BE49-F238E27FC236}">
                <a16:creationId xmlns:a16="http://schemas.microsoft.com/office/drawing/2014/main" id="{4D3241F9-A5B1-89EF-BEFA-BFC64268B8FE}"/>
              </a:ext>
            </a:extLst>
          </p:cNvPr>
          <p:cNvSpPr/>
          <p:nvPr/>
        </p:nvSpPr>
        <p:spPr>
          <a:xfrm>
            <a:off x="804672" y="2903220"/>
            <a:ext cx="7863840" cy="246888"/>
          </a:xfrm>
          <a:prstGeom prst="rect">
            <a:avLst/>
          </a:prstGeom>
          <a:noFill/>
        </p:spPr>
        <p:txBody>
          <a:bodyPr wrap="square" lIns="0" tIns="0" rIns="0" bIns="0" rtlCol="0" anchor="ctr"/>
          <a:lstStyle/>
          <a:p>
            <a:r>
              <a:rPr lang="en-US" sz="1600" b="1" dirty="0">
                <a:solidFill>
                  <a:srgbClr val="002060"/>
                </a:solidFill>
              </a:rPr>
              <a:t>Exercise (minutes):</a:t>
            </a:r>
            <a:r>
              <a:rPr lang="en-US" sz="1600" dirty="0">
                <a:solidFill>
                  <a:srgbClr val="002060"/>
                </a:solidFill>
              </a:rPr>
              <a:t> Indicates physical activity level for overall fitness.</a:t>
            </a:r>
            <a:endParaRPr lang="en-US" altLang="en-US" sz="1600" dirty="0">
              <a:solidFill>
                <a:srgbClr val="002060"/>
              </a:solidFill>
            </a:endParaRPr>
          </a:p>
        </p:txBody>
      </p:sp>
      <p:sp>
        <p:nvSpPr>
          <p:cNvPr id="23" name="Shape 21">
            <a:extLst>
              <a:ext uri="{FF2B5EF4-FFF2-40B4-BE49-F238E27FC236}">
                <a16:creationId xmlns:a16="http://schemas.microsoft.com/office/drawing/2014/main" id="{7D1B9609-9751-ED4B-2E23-0C23A51436BA}"/>
              </a:ext>
            </a:extLst>
          </p:cNvPr>
          <p:cNvSpPr/>
          <p:nvPr/>
        </p:nvSpPr>
        <p:spPr>
          <a:xfrm>
            <a:off x="320040" y="3410712"/>
            <a:ext cx="320040" cy="566928"/>
          </a:xfrm>
          <a:prstGeom prst="rect">
            <a:avLst/>
          </a:prstGeom>
          <a:solidFill>
            <a:srgbClr val="FFB300"/>
          </a:solidFill>
        </p:spPr>
      </p:sp>
      <p:sp>
        <p:nvSpPr>
          <p:cNvPr id="24" name="Text 22">
            <a:extLst>
              <a:ext uri="{FF2B5EF4-FFF2-40B4-BE49-F238E27FC236}">
                <a16:creationId xmlns:a16="http://schemas.microsoft.com/office/drawing/2014/main" id="{85573A75-23FD-778B-959A-448777C308D5}"/>
              </a:ext>
            </a:extLst>
          </p:cNvPr>
          <p:cNvSpPr/>
          <p:nvPr/>
        </p:nvSpPr>
        <p:spPr>
          <a:xfrm>
            <a:off x="320040" y="3410712"/>
            <a:ext cx="320040" cy="566928"/>
          </a:xfrm>
          <a:prstGeom prst="rect">
            <a:avLst/>
          </a:prstGeom>
          <a:noFill/>
        </p:spPr>
        <p:txBody>
          <a:bodyPr wrap="square" lIns="0" tIns="0" rIns="0" bIns="0" rtlCol="0" anchor="ctr"/>
          <a:lstStyle/>
          <a:p>
            <a:pPr marL="0" indent="0" algn="ctr">
              <a:buNone/>
            </a:pPr>
            <a:r>
              <a:rPr lang="en-US" sz="12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P4</a:t>
            </a:r>
            <a:endParaRPr lang="en-US" sz="1200" dirty="0"/>
          </a:p>
        </p:txBody>
      </p:sp>
      <p:sp>
        <p:nvSpPr>
          <p:cNvPr id="25" name="Shape 23">
            <a:extLst>
              <a:ext uri="{FF2B5EF4-FFF2-40B4-BE49-F238E27FC236}">
                <a16:creationId xmlns:a16="http://schemas.microsoft.com/office/drawing/2014/main" id="{C19B3087-1ADA-CF9E-0EF9-3BE601AFE287}"/>
              </a:ext>
            </a:extLst>
          </p:cNvPr>
          <p:cNvSpPr/>
          <p:nvPr/>
        </p:nvSpPr>
        <p:spPr>
          <a:xfrm>
            <a:off x="685800" y="3410712"/>
            <a:ext cx="8138160" cy="566928"/>
          </a:xfrm>
          <a:prstGeom prst="rect">
            <a:avLst/>
          </a:prstGeom>
          <a:solidFill>
            <a:srgbClr val="FFFFFF"/>
          </a:solidFill>
          <a:effectLst>
            <a:outerShdw blurRad="63500" dist="25400" dir="8100000" algn="bl" rotWithShape="0">
              <a:srgbClr val="000000">
                <a:alpha val="10000"/>
              </a:srgbClr>
            </a:outerShdw>
          </a:effectLst>
        </p:spPr>
        <p:txBody>
          <a:bodyPr/>
          <a:lstStyle/>
          <a:p>
            <a:endParaRPr lang="en-IN" dirty="0"/>
          </a:p>
        </p:txBody>
      </p:sp>
      <p:sp>
        <p:nvSpPr>
          <p:cNvPr id="26" name="Text 24">
            <a:extLst>
              <a:ext uri="{FF2B5EF4-FFF2-40B4-BE49-F238E27FC236}">
                <a16:creationId xmlns:a16="http://schemas.microsoft.com/office/drawing/2014/main" id="{41EAA783-9371-FB07-2060-DBECB347BB1F}"/>
              </a:ext>
            </a:extLst>
          </p:cNvPr>
          <p:cNvSpPr/>
          <p:nvPr/>
        </p:nvSpPr>
        <p:spPr>
          <a:xfrm>
            <a:off x="804672" y="3438144"/>
            <a:ext cx="7863840" cy="256032"/>
          </a:xfrm>
          <a:prstGeom prst="rect">
            <a:avLst/>
          </a:prstGeom>
          <a:noFill/>
        </p:spPr>
        <p:txBody>
          <a:bodyPr wrap="square" lIns="0" tIns="0" rIns="0" bIns="0" rtlCol="0" anchor="ctr"/>
          <a:lstStyle/>
          <a:p>
            <a:pPr marL="0" indent="0">
              <a:buNone/>
            </a:pPr>
            <a:endParaRPr lang="en-US" altLang="en-US" sz="1050" b="1" dirty="0"/>
          </a:p>
        </p:txBody>
      </p:sp>
      <p:sp>
        <p:nvSpPr>
          <p:cNvPr id="27" name="Text 25">
            <a:extLst>
              <a:ext uri="{FF2B5EF4-FFF2-40B4-BE49-F238E27FC236}">
                <a16:creationId xmlns:a16="http://schemas.microsoft.com/office/drawing/2014/main" id="{585620B3-9932-EC8C-223F-BE21D3745048}"/>
              </a:ext>
            </a:extLst>
          </p:cNvPr>
          <p:cNvSpPr/>
          <p:nvPr/>
        </p:nvSpPr>
        <p:spPr>
          <a:xfrm>
            <a:off x="804672" y="3703320"/>
            <a:ext cx="7863840" cy="246888"/>
          </a:xfrm>
          <a:prstGeom prst="rect">
            <a:avLst/>
          </a:prstGeom>
          <a:noFill/>
        </p:spPr>
        <p:txBody>
          <a:bodyPr wrap="square" lIns="0" tIns="0" rIns="0" bIns="0" rtlCol="0" anchor="ctr"/>
          <a:lstStyle/>
          <a:p>
            <a:pPr marL="0" indent="0">
              <a:buNone/>
            </a:pPr>
            <a:endParaRPr lang="en-US" altLang="en-US" sz="1000" dirty="0">
              <a:solidFill>
                <a:schemeClr val="bg2">
                  <a:lumMod val="75000"/>
                </a:schemeClr>
              </a:solidFill>
            </a:endParaRPr>
          </a:p>
        </p:txBody>
      </p:sp>
      <p:sp>
        <p:nvSpPr>
          <p:cNvPr id="28" name="Shape 26">
            <a:extLst>
              <a:ext uri="{FF2B5EF4-FFF2-40B4-BE49-F238E27FC236}">
                <a16:creationId xmlns:a16="http://schemas.microsoft.com/office/drawing/2014/main" id="{63588B7F-59A7-84DA-A5A2-21D35BBCF127}"/>
              </a:ext>
            </a:extLst>
          </p:cNvPr>
          <p:cNvSpPr/>
          <p:nvPr/>
        </p:nvSpPr>
        <p:spPr>
          <a:xfrm>
            <a:off x="320040" y="4096512"/>
            <a:ext cx="320040" cy="566928"/>
          </a:xfrm>
          <a:prstGeom prst="rect">
            <a:avLst/>
          </a:prstGeom>
          <a:solidFill>
            <a:srgbClr val="FFB300"/>
          </a:solidFill>
        </p:spPr>
      </p:sp>
      <p:sp>
        <p:nvSpPr>
          <p:cNvPr id="29" name="Text 27">
            <a:extLst>
              <a:ext uri="{FF2B5EF4-FFF2-40B4-BE49-F238E27FC236}">
                <a16:creationId xmlns:a16="http://schemas.microsoft.com/office/drawing/2014/main" id="{2B0C8E25-74BD-EFAF-FDA9-2B7391AE2753}"/>
              </a:ext>
            </a:extLst>
          </p:cNvPr>
          <p:cNvSpPr/>
          <p:nvPr/>
        </p:nvSpPr>
        <p:spPr>
          <a:xfrm>
            <a:off x="320040" y="4096512"/>
            <a:ext cx="320040" cy="566928"/>
          </a:xfrm>
          <a:prstGeom prst="rect">
            <a:avLst/>
          </a:prstGeom>
          <a:noFill/>
        </p:spPr>
        <p:txBody>
          <a:bodyPr wrap="square" lIns="0" tIns="0" rIns="0" bIns="0" rtlCol="0" anchor="ctr"/>
          <a:lstStyle/>
          <a:p>
            <a:pPr marL="0" indent="0" algn="ctr">
              <a:buNone/>
            </a:pPr>
            <a:r>
              <a:rPr lang="en-US" sz="1200" b="1" dirty="0">
                <a:solidFill>
                  <a:srgbClr val="0A1F2E"/>
                </a:solidFill>
                <a:latin typeface="Trebuchet MS" panose="020B0703020202090204" pitchFamily="34" charset="0"/>
                <a:ea typeface="Trebuchet MS" panose="020B0703020202090204" pitchFamily="34" charset="-122"/>
                <a:cs typeface="Trebuchet MS" panose="020B0703020202090204" pitchFamily="34" charset="-120"/>
              </a:rPr>
              <a:t>P5</a:t>
            </a:r>
            <a:endParaRPr lang="en-US" sz="1200" dirty="0"/>
          </a:p>
        </p:txBody>
      </p:sp>
      <p:sp>
        <p:nvSpPr>
          <p:cNvPr id="30" name="Shape 28">
            <a:extLst>
              <a:ext uri="{FF2B5EF4-FFF2-40B4-BE49-F238E27FC236}">
                <a16:creationId xmlns:a16="http://schemas.microsoft.com/office/drawing/2014/main" id="{1E48CE50-152F-1B68-5393-84570BADC7E6}"/>
              </a:ext>
            </a:extLst>
          </p:cNvPr>
          <p:cNvSpPr/>
          <p:nvPr/>
        </p:nvSpPr>
        <p:spPr>
          <a:xfrm>
            <a:off x="685800" y="4096512"/>
            <a:ext cx="8138160" cy="566928"/>
          </a:xfrm>
          <a:prstGeom prst="rect">
            <a:avLst/>
          </a:prstGeom>
          <a:solidFill>
            <a:srgbClr val="FFFFFF"/>
          </a:solidFill>
          <a:effectLst>
            <a:outerShdw blurRad="63500" dist="25400" dir="8100000" algn="bl" rotWithShape="0">
              <a:srgbClr val="000000">
                <a:alpha val="10000"/>
              </a:srgbClr>
            </a:outerShdw>
          </a:effectLst>
        </p:spPr>
      </p:sp>
      <p:sp>
        <p:nvSpPr>
          <p:cNvPr id="31" name="Text 29">
            <a:extLst>
              <a:ext uri="{FF2B5EF4-FFF2-40B4-BE49-F238E27FC236}">
                <a16:creationId xmlns:a16="http://schemas.microsoft.com/office/drawing/2014/main" id="{3107079E-8D5D-6705-09F1-C47D1138A32E}"/>
              </a:ext>
            </a:extLst>
          </p:cNvPr>
          <p:cNvSpPr/>
          <p:nvPr/>
        </p:nvSpPr>
        <p:spPr>
          <a:xfrm>
            <a:off x="804672" y="4123944"/>
            <a:ext cx="7863840" cy="256032"/>
          </a:xfrm>
          <a:prstGeom prst="rect">
            <a:avLst/>
          </a:prstGeom>
          <a:noFill/>
        </p:spPr>
        <p:txBody>
          <a:bodyPr wrap="square" lIns="0" tIns="0" rIns="0" bIns="0" rtlCol="0" anchor="ctr"/>
          <a:lstStyle/>
          <a:p>
            <a:pPr marL="0" indent="0">
              <a:buNone/>
            </a:pPr>
            <a:r>
              <a:rPr lang="en-US" altLang="en-US" sz="1050" b="1" dirty="0"/>
              <a:t>Why is there a need for a smart wearable device?</a:t>
            </a:r>
          </a:p>
          <a:p>
            <a:pPr marL="0" indent="0">
              <a:buNone/>
            </a:pPr>
            <a:endParaRPr lang="en-US" altLang="en-US" sz="1050" b="1" dirty="0"/>
          </a:p>
        </p:txBody>
      </p:sp>
      <p:sp>
        <p:nvSpPr>
          <p:cNvPr id="32" name="Text 30">
            <a:extLst>
              <a:ext uri="{FF2B5EF4-FFF2-40B4-BE49-F238E27FC236}">
                <a16:creationId xmlns:a16="http://schemas.microsoft.com/office/drawing/2014/main" id="{14F1B7CC-16FC-A8CE-AB1E-830B1ED8D8A7}"/>
              </a:ext>
            </a:extLst>
          </p:cNvPr>
          <p:cNvSpPr/>
          <p:nvPr/>
        </p:nvSpPr>
        <p:spPr>
          <a:xfrm>
            <a:off x="777240" y="4276779"/>
            <a:ext cx="7863840" cy="246888"/>
          </a:xfrm>
          <a:prstGeom prst="rect">
            <a:avLst/>
          </a:prstGeom>
          <a:noFill/>
        </p:spPr>
        <p:txBody>
          <a:bodyPr wrap="square" lIns="0" tIns="0" rIns="0" bIns="0" rtlCol="0" anchor="ctr"/>
          <a:lstStyle/>
          <a:p>
            <a:r>
              <a:rPr lang="en-US" sz="1600" b="1" dirty="0">
                <a:solidFill>
                  <a:srgbClr val="002060"/>
                </a:solidFill>
              </a:rPr>
              <a:t>BMI (Body Mass Index):</a:t>
            </a:r>
            <a:r>
              <a:rPr lang="en-US" sz="1600" dirty="0">
                <a:solidFill>
                  <a:srgbClr val="002060"/>
                </a:solidFill>
              </a:rPr>
              <a:t> Evaluates body weight status based on height and weight. </a:t>
            </a:r>
          </a:p>
        </p:txBody>
      </p:sp>
      <p:sp>
        <p:nvSpPr>
          <p:cNvPr id="37" name="Rectangle 4">
            <a:extLst>
              <a:ext uri="{FF2B5EF4-FFF2-40B4-BE49-F238E27FC236}">
                <a16:creationId xmlns:a16="http://schemas.microsoft.com/office/drawing/2014/main" id="{3AD49F28-8829-2CC4-C574-94B98320AFA3}"/>
              </a:ext>
            </a:extLst>
          </p:cNvPr>
          <p:cNvSpPr>
            <a:spLocks noChangeArrowheads="1"/>
          </p:cNvSpPr>
          <p:nvPr/>
        </p:nvSpPr>
        <p:spPr bwMode="auto">
          <a:xfrm>
            <a:off x="685800" y="3467243"/>
            <a:ext cx="590604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rgbClr val="002060"/>
                </a:solidFill>
              </a:rPr>
              <a:t>Heart rate (bpm): </a:t>
            </a:r>
            <a:r>
              <a:rPr lang="en-US" altLang="en-US" sz="1600" dirty="0">
                <a:solidFill>
                  <a:srgbClr val="002060"/>
                </a:solidFill>
              </a:rPr>
              <a:t>Reflects cardiovascular health and body condition.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7254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F2E"/>
          </a:solidFill>
        </p:spPr>
      </p:sp>
      <p:sp>
        <p:nvSpPr>
          <p:cNvPr id="3" name="Shape 1"/>
          <p:cNvSpPr/>
          <p:nvPr/>
        </p:nvSpPr>
        <p:spPr>
          <a:xfrm>
            <a:off x="0" y="0"/>
            <a:ext cx="228600" cy="658368"/>
          </a:xfrm>
          <a:prstGeom prst="rect">
            <a:avLst/>
          </a:prstGeom>
          <a:solidFill>
            <a:srgbClr val="FFB300"/>
          </a:solidFill>
        </p:spPr>
      </p:sp>
      <p:sp>
        <p:nvSpPr>
          <p:cNvPr id="4" name="Text 2"/>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rPr>
              <a:t>HEALTH SCORE CALCULATION</a:t>
            </a:r>
          </a:p>
        </p:txBody>
      </p:sp>
      <p:sp>
        <p:nvSpPr>
          <p:cNvPr id="5" name="Shape 3"/>
          <p:cNvSpPr/>
          <p:nvPr/>
        </p:nvSpPr>
        <p:spPr>
          <a:xfrm>
            <a:off x="0" y="4892040"/>
            <a:ext cx="9144000" cy="251460"/>
          </a:xfrm>
          <a:prstGeom prst="rect">
            <a:avLst/>
          </a:prstGeom>
          <a:solidFill>
            <a:srgbClr val="00796B"/>
          </a:solidFill>
        </p:spPr>
      </p:sp>
      <p:sp>
        <p:nvSpPr>
          <p:cNvPr id="6" name="Text 4"/>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Text 5"/>
          <p:cNvSpPr/>
          <p:nvPr/>
        </p:nvSpPr>
        <p:spPr>
          <a:xfrm>
            <a:off x="365760" y="719999"/>
            <a:ext cx="8412480" cy="1087029"/>
          </a:xfrm>
          <a:prstGeom prst="rect">
            <a:avLst/>
          </a:prstGeom>
          <a:solidFill>
            <a:srgbClr val="00796B"/>
          </a:solidFill>
        </p:spPr>
        <p:txBody>
          <a:bodyPr wrap="square" lIns="63500" tIns="63500" rIns="63500" bIns="63500" rtlCol="0" anchor="ctr"/>
          <a:lstStyle/>
          <a:p>
            <a:r>
              <a:rPr lang="en-US" sz="1600" dirty="0"/>
              <a:t>The system uses key health parameters such as sleep duration, water intake, exercise, heart rate, and Body Mass Index (BMI) to evaluate the overall health condition of a patient.</a:t>
            </a:r>
          </a:p>
        </p:txBody>
      </p:sp>
      <p:graphicFrame>
        <p:nvGraphicFramePr>
          <p:cNvPr id="9" name="Table 8">
            <a:extLst>
              <a:ext uri="{FF2B5EF4-FFF2-40B4-BE49-F238E27FC236}">
                <a16:creationId xmlns:a16="http://schemas.microsoft.com/office/drawing/2014/main" id="{7412D74D-8D7F-EACA-194A-47284B2D2EB8}"/>
              </a:ext>
            </a:extLst>
          </p:cNvPr>
          <p:cNvGraphicFramePr>
            <a:graphicFrameLocks noGrp="1"/>
          </p:cNvGraphicFramePr>
          <p:nvPr>
            <p:extLst>
              <p:ext uri="{D42A27DB-BD31-4B8C-83A1-F6EECF244321}">
                <p14:modId xmlns:p14="http://schemas.microsoft.com/office/powerpoint/2010/main" val="3373132585"/>
              </p:ext>
            </p:extLst>
          </p:nvPr>
        </p:nvGraphicFramePr>
        <p:xfrm>
          <a:off x="855663" y="2123916"/>
          <a:ext cx="7429500" cy="1783080"/>
        </p:xfrm>
        <a:graphic>
          <a:graphicData uri="http://schemas.openxmlformats.org/drawingml/2006/table">
            <a:tbl>
              <a:tblPr>
                <a:tableStyleId>{0505E3EF-67EA-436B-97B2-0124C06EBD24}</a:tableStyleId>
              </a:tblPr>
              <a:tblGrid>
                <a:gridCol w="2476500">
                  <a:extLst>
                    <a:ext uri="{9D8B030D-6E8A-4147-A177-3AD203B41FA5}">
                      <a16:colId xmlns:a16="http://schemas.microsoft.com/office/drawing/2014/main" val="2912723202"/>
                    </a:ext>
                  </a:extLst>
                </a:gridCol>
                <a:gridCol w="2476500">
                  <a:extLst>
                    <a:ext uri="{9D8B030D-6E8A-4147-A177-3AD203B41FA5}">
                      <a16:colId xmlns:a16="http://schemas.microsoft.com/office/drawing/2014/main" val="863678877"/>
                    </a:ext>
                  </a:extLst>
                </a:gridCol>
                <a:gridCol w="2476500">
                  <a:extLst>
                    <a:ext uri="{9D8B030D-6E8A-4147-A177-3AD203B41FA5}">
                      <a16:colId xmlns:a16="http://schemas.microsoft.com/office/drawing/2014/main" val="3778362021"/>
                    </a:ext>
                  </a:extLst>
                </a:gridCol>
              </a:tblGrid>
              <a:tr h="0">
                <a:tc>
                  <a:txBody>
                    <a:bodyPr/>
                    <a:lstStyle/>
                    <a:p>
                      <a:pPr>
                        <a:buNone/>
                      </a:pPr>
                      <a:r>
                        <a:rPr lang="en-IN" dirty="0">
                          <a:solidFill>
                            <a:schemeClr val="bg1"/>
                          </a:solidFill>
                        </a:rPr>
                        <a:t>Parameter</a:t>
                      </a:r>
                    </a:p>
                  </a:txBody>
                  <a:tcPr anchor="ctr"/>
                </a:tc>
                <a:tc>
                  <a:txBody>
                    <a:bodyPr/>
                    <a:lstStyle/>
                    <a:p>
                      <a:pPr>
                        <a:buNone/>
                      </a:pPr>
                      <a:r>
                        <a:rPr lang="en-IN" dirty="0">
                          <a:solidFill>
                            <a:schemeClr val="bg1"/>
                          </a:solidFill>
                        </a:rPr>
                        <a:t>Condition</a:t>
                      </a:r>
                    </a:p>
                  </a:txBody>
                  <a:tcPr anchor="ctr"/>
                </a:tc>
                <a:tc>
                  <a:txBody>
                    <a:bodyPr/>
                    <a:lstStyle/>
                    <a:p>
                      <a:pPr>
                        <a:buNone/>
                      </a:pPr>
                      <a:r>
                        <a:rPr lang="en-IN">
                          <a:solidFill>
                            <a:schemeClr val="bg1"/>
                          </a:solidFill>
                        </a:rPr>
                        <a:t>Score</a:t>
                      </a:r>
                    </a:p>
                  </a:txBody>
                  <a:tcPr anchor="ctr"/>
                </a:tc>
                <a:extLst>
                  <a:ext uri="{0D108BD9-81ED-4DB2-BD59-A6C34878D82A}">
                    <a16:rowId xmlns:a16="http://schemas.microsoft.com/office/drawing/2014/main" val="541464661"/>
                  </a:ext>
                </a:extLst>
              </a:tr>
              <a:tr h="0">
                <a:tc>
                  <a:txBody>
                    <a:bodyPr/>
                    <a:lstStyle/>
                    <a:p>
                      <a:pPr>
                        <a:buNone/>
                      </a:pPr>
                      <a:r>
                        <a:rPr lang="en-IN" dirty="0">
                          <a:solidFill>
                            <a:schemeClr val="bg1"/>
                          </a:solidFill>
                        </a:rPr>
                        <a:t>Sleep</a:t>
                      </a:r>
                    </a:p>
                  </a:txBody>
                  <a:tcPr anchor="ctr"/>
                </a:tc>
                <a:tc>
                  <a:txBody>
                    <a:bodyPr/>
                    <a:lstStyle/>
                    <a:p>
                      <a:pPr>
                        <a:buNone/>
                      </a:pPr>
                      <a:r>
                        <a:rPr lang="en-IN">
                          <a:solidFill>
                            <a:schemeClr val="bg1"/>
                          </a:solidFill>
                        </a:rPr>
                        <a:t>6–8 hours</a:t>
                      </a:r>
                    </a:p>
                  </a:txBody>
                  <a:tcPr anchor="ctr"/>
                </a:tc>
                <a:tc>
                  <a:txBody>
                    <a:bodyPr/>
                    <a:lstStyle/>
                    <a:p>
                      <a:pPr>
                        <a:buNone/>
                      </a:pPr>
                      <a:r>
                        <a:rPr lang="en-IN">
                          <a:solidFill>
                            <a:schemeClr val="bg1"/>
                          </a:solidFill>
                        </a:rPr>
                        <a:t>+20</a:t>
                      </a:r>
                    </a:p>
                  </a:txBody>
                  <a:tcPr anchor="ctr"/>
                </a:tc>
                <a:extLst>
                  <a:ext uri="{0D108BD9-81ED-4DB2-BD59-A6C34878D82A}">
                    <a16:rowId xmlns:a16="http://schemas.microsoft.com/office/drawing/2014/main" val="2555487739"/>
                  </a:ext>
                </a:extLst>
              </a:tr>
              <a:tr h="0">
                <a:tc>
                  <a:txBody>
                    <a:bodyPr/>
                    <a:lstStyle/>
                    <a:p>
                      <a:pPr>
                        <a:buNone/>
                      </a:pPr>
                      <a:r>
                        <a:rPr lang="en-IN">
                          <a:solidFill>
                            <a:schemeClr val="bg1"/>
                          </a:solidFill>
                        </a:rPr>
                        <a:t>Water</a:t>
                      </a:r>
                    </a:p>
                  </a:txBody>
                  <a:tcPr anchor="ctr"/>
                </a:tc>
                <a:tc>
                  <a:txBody>
                    <a:bodyPr/>
                    <a:lstStyle/>
                    <a:p>
                      <a:pPr>
                        <a:buNone/>
                      </a:pPr>
                      <a:r>
                        <a:rPr lang="en-IN" dirty="0">
                          <a:solidFill>
                            <a:schemeClr val="bg1"/>
                          </a:solidFill>
                        </a:rPr>
                        <a:t>2–4 </a:t>
                      </a:r>
                      <a:r>
                        <a:rPr lang="en-IN" dirty="0" err="1">
                          <a:solidFill>
                            <a:schemeClr val="bg1"/>
                          </a:solidFill>
                        </a:rPr>
                        <a:t>liters</a:t>
                      </a:r>
                      <a:endParaRPr lang="en-IN" dirty="0">
                        <a:solidFill>
                          <a:schemeClr val="bg1"/>
                        </a:solidFill>
                      </a:endParaRPr>
                    </a:p>
                  </a:txBody>
                  <a:tcPr anchor="ctr"/>
                </a:tc>
                <a:tc>
                  <a:txBody>
                    <a:bodyPr/>
                    <a:lstStyle/>
                    <a:p>
                      <a:pPr>
                        <a:buNone/>
                      </a:pPr>
                      <a:r>
                        <a:rPr lang="en-IN">
                          <a:solidFill>
                            <a:schemeClr val="bg1"/>
                          </a:solidFill>
                        </a:rPr>
                        <a:t>+20</a:t>
                      </a:r>
                    </a:p>
                  </a:txBody>
                  <a:tcPr anchor="ctr"/>
                </a:tc>
                <a:extLst>
                  <a:ext uri="{0D108BD9-81ED-4DB2-BD59-A6C34878D82A}">
                    <a16:rowId xmlns:a16="http://schemas.microsoft.com/office/drawing/2014/main" val="2186481057"/>
                  </a:ext>
                </a:extLst>
              </a:tr>
              <a:tr h="0">
                <a:tc>
                  <a:txBody>
                    <a:bodyPr/>
                    <a:lstStyle/>
                    <a:p>
                      <a:pPr>
                        <a:buNone/>
                      </a:pPr>
                      <a:r>
                        <a:rPr lang="en-IN">
                          <a:solidFill>
                            <a:schemeClr val="bg1"/>
                          </a:solidFill>
                        </a:rPr>
                        <a:t>Exercise</a:t>
                      </a:r>
                    </a:p>
                  </a:txBody>
                  <a:tcPr anchor="ctr"/>
                </a:tc>
                <a:tc>
                  <a:txBody>
                    <a:bodyPr/>
                    <a:lstStyle/>
                    <a:p>
                      <a:pPr>
                        <a:buNone/>
                      </a:pPr>
                      <a:r>
                        <a:rPr lang="en-IN" dirty="0">
                          <a:solidFill>
                            <a:schemeClr val="bg1"/>
                          </a:solidFill>
                        </a:rPr>
                        <a:t>≥30 min</a:t>
                      </a:r>
                    </a:p>
                  </a:txBody>
                  <a:tcPr anchor="ctr"/>
                </a:tc>
                <a:tc>
                  <a:txBody>
                    <a:bodyPr/>
                    <a:lstStyle/>
                    <a:p>
                      <a:pPr>
                        <a:buNone/>
                      </a:pPr>
                      <a:r>
                        <a:rPr lang="en-IN">
                          <a:solidFill>
                            <a:schemeClr val="bg1"/>
                          </a:solidFill>
                        </a:rPr>
                        <a:t>+20</a:t>
                      </a:r>
                    </a:p>
                  </a:txBody>
                  <a:tcPr anchor="ctr"/>
                </a:tc>
                <a:extLst>
                  <a:ext uri="{0D108BD9-81ED-4DB2-BD59-A6C34878D82A}">
                    <a16:rowId xmlns:a16="http://schemas.microsoft.com/office/drawing/2014/main" val="717336415"/>
                  </a:ext>
                </a:extLst>
              </a:tr>
              <a:tr h="0">
                <a:tc>
                  <a:txBody>
                    <a:bodyPr/>
                    <a:lstStyle/>
                    <a:p>
                      <a:pPr>
                        <a:buNone/>
                      </a:pPr>
                      <a:r>
                        <a:rPr lang="en-IN">
                          <a:solidFill>
                            <a:schemeClr val="bg1"/>
                          </a:solidFill>
                        </a:rPr>
                        <a:t>Heart Rate</a:t>
                      </a:r>
                      <a:endParaRPr lang="en-IN" dirty="0">
                        <a:solidFill>
                          <a:schemeClr val="bg1"/>
                        </a:solidFill>
                      </a:endParaRPr>
                    </a:p>
                  </a:txBody>
                  <a:tcPr anchor="ctr"/>
                </a:tc>
                <a:tc>
                  <a:txBody>
                    <a:bodyPr/>
                    <a:lstStyle/>
                    <a:p>
                      <a:pPr>
                        <a:buNone/>
                      </a:pPr>
                      <a:r>
                        <a:rPr lang="en-IN" dirty="0">
                          <a:solidFill>
                            <a:schemeClr val="bg1"/>
                          </a:solidFill>
                        </a:rPr>
                        <a:t>60–100</a:t>
                      </a:r>
                    </a:p>
                  </a:txBody>
                  <a:tcPr anchor="ctr"/>
                </a:tc>
                <a:tc>
                  <a:txBody>
                    <a:bodyPr/>
                    <a:lstStyle/>
                    <a:p>
                      <a:pPr>
                        <a:buNone/>
                      </a:pPr>
                      <a:r>
                        <a:rPr lang="en-IN" dirty="0">
                          <a:solidFill>
                            <a:schemeClr val="bg1"/>
                          </a:solidFill>
                        </a:rPr>
                        <a:t>+20</a:t>
                      </a:r>
                    </a:p>
                  </a:txBody>
                  <a:tcPr anchor="ctr"/>
                </a:tc>
                <a:extLst>
                  <a:ext uri="{0D108BD9-81ED-4DB2-BD59-A6C34878D82A}">
                    <a16:rowId xmlns:a16="http://schemas.microsoft.com/office/drawing/2014/main" val="2025056314"/>
                  </a:ext>
                </a:extLst>
              </a:tr>
              <a:tr h="0">
                <a:tc>
                  <a:txBody>
                    <a:bodyPr/>
                    <a:lstStyle/>
                    <a:p>
                      <a:pPr>
                        <a:buNone/>
                      </a:pPr>
                      <a:r>
                        <a:rPr lang="en-IN">
                          <a:solidFill>
                            <a:schemeClr val="bg1"/>
                          </a:solidFill>
                        </a:rPr>
                        <a:t>BMI</a:t>
                      </a:r>
                    </a:p>
                  </a:txBody>
                  <a:tcPr anchor="ctr"/>
                </a:tc>
                <a:tc>
                  <a:txBody>
                    <a:bodyPr/>
                    <a:lstStyle/>
                    <a:p>
                      <a:pPr>
                        <a:buNone/>
                      </a:pPr>
                      <a:r>
                        <a:rPr lang="en-IN">
                          <a:solidFill>
                            <a:schemeClr val="bg1"/>
                          </a:solidFill>
                        </a:rPr>
                        <a:t>18.5–24.9</a:t>
                      </a:r>
                    </a:p>
                  </a:txBody>
                  <a:tcPr anchor="ctr"/>
                </a:tc>
                <a:tc>
                  <a:txBody>
                    <a:bodyPr/>
                    <a:lstStyle/>
                    <a:p>
                      <a:pPr>
                        <a:buNone/>
                      </a:pPr>
                      <a:r>
                        <a:rPr lang="en-IN" dirty="0">
                          <a:solidFill>
                            <a:schemeClr val="bg1"/>
                          </a:solidFill>
                        </a:rPr>
                        <a:t>+20</a:t>
                      </a:r>
                    </a:p>
                  </a:txBody>
                  <a:tcPr anchor="ctr"/>
                </a:tc>
                <a:extLst>
                  <a:ext uri="{0D108BD9-81ED-4DB2-BD59-A6C34878D82A}">
                    <a16:rowId xmlns:a16="http://schemas.microsoft.com/office/drawing/2014/main" val="27195271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a:extLst>
            <a:ext uri="{FF2B5EF4-FFF2-40B4-BE49-F238E27FC236}">
              <a16:creationId xmlns:a16="http://schemas.microsoft.com/office/drawing/2014/main" id="{D325C36F-4DCC-AE5E-CCC8-D86912018C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091E75-81E6-1255-9526-A9102FB0B68A}"/>
              </a:ext>
            </a:extLst>
          </p:cNvPr>
          <p:cNvSpPr/>
          <p:nvPr/>
        </p:nvSpPr>
        <p:spPr>
          <a:xfrm>
            <a:off x="0" y="0"/>
            <a:ext cx="9144000" cy="658368"/>
          </a:xfrm>
          <a:prstGeom prst="rect">
            <a:avLst/>
          </a:prstGeom>
          <a:solidFill>
            <a:srgbClr val="0A1F2E"/>
          </a:solidFill>
        </p:spPr>
      </p:sp>
      <p:sp>
        <p:nvSpPr>
          <p:cNvPr id="3" name="Shape 1">
            <a:extLst>
              <a:ext uri="{FF2B5EF4-FFF2-40B4-BE49-F238E27FC236}">
                <a16:creationId xmlns:a16="http://schemas.microsoft.com/office/drawing/2014/main" id="{27FD237E-C721-C0FE-C174-B2982DAA18B8}"/>
              </a:ext>
            </a:extLst>
          </p:cNvPr>
          <p:cNvSpPr/>
          <p:nvPr/>
        </p:nvSpPr>
        <p:spPr>
          <a:xfrm>
            <a:off x="0" y="0"/>
            <a:ext cx="228600" cy="658368"/>
          </a:xfrm>
          <a:prstGeom prst="rect">
            <a:avLst/>
          </a:prstGeom>
          <a:solidFill>
            <a:srgbClr val="FFB300"/>
          </a:solidFill>
        </p:spPr>
      </p:sp>
      <p:sp>
        <p:nvSpPr>
          <p:cNvPr id="4" name="Text 2">
            <a:extLst>
              <a:ext uri="{FF2B5EF4-FFF2-40B4-BE49-F238E27FC236}">
                <a16:creationId xmlns:a16="http://schemas.microsoft.com/office/drawing/2014/main" id="{70DD4910-079F-AD1E-AF3C-24E342DD0692}"/>
              </a:ext>
            </a:extLst>
          </p:cNvPr>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rPr>
              <a:t>OUTPUT &amp; VISUALIZATION</a:t>
            </a:r>
          </a:p>
        </p:txBody>
      </p:sp>
      <p:sp>
        <p:nvSpPr>
          <p:cNvPr id="5" name="Shape 3">
            <a:extLst>
              <a:ext uri="{FF2B5EF4-FFF2-40B4-BE49-F238E27FC236}">
                <a16:creationId xmlns:a16="http://schemas.microsoft.com/office/drawing/2014/main" id="{74000F10-4AD7-BDD6-FF8D-85302ED2A24C}"/>
              </a:ext>
            </a:extLst>
          </p:cNvPr>
          <p:cNvSpPr/>
          <p:nvPr/>
        </p:nvSpPr>
        <p:spPr>
          <a:xfrm>
            <a:off x="0" y="4892040"/>
            <a:ext cx="9144000" cy="251460"/>
          </a:xfrm>
          <a:prstGeom prst="rect">
            <a:avLst/>
          </a:prstGeom>
          <a:solidFill>
            <a:srgbClr val="00796B"/>
          </a:solidFill>
        </p:spPr>
      </p:sp>
      <p:sp>
        <p:nvSpPr>
          <p:cNvPr id="6" name="Text 4">
            <a:extLst>
              <a:ext uri="{FF2B5EF4-FFF2-40B4-BE49-F238E27FC236}">
                <a16:creationId xmlns:a16="http://schemas.microsoft.com/office/drawing/2014/main" id="{A528BDAA-B31C-8E01-6237-7C63E42DCBA3}"/>
              </a:ext>
            </a:extLst>
          </p:cNvPr>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Text 5">
            <a:extLst>
              <a:ext uri="{FF2B5EF4-FFF2-40B4-BE49-F238E27FC236}">
                <a16:creationId xmlns:a16="http://schemas.microsoft.com/office/drawing/2014/main" id="{7278E288-F49F-4818-E4D1-EE1DBD52D9A2}"/>
              </a:ext>
            </a:extLst>
          </p:cNvPr>
          <p:cNvSpPr/>
          <p:nvPr/>
        </p:nvSpPr>
        <p:spPr>
          <a:xfrm>
            <a:off x="365760" y="719999"/>
            <a:ext cx="8412480" cy="1087029"/>
          </a:xfrm>
          <a:prstGeom prst="rect">
            <a:avLst/>
          </a:prstGeom>
          <a:solidFill>
            <a:srgbClr val="00796B"/>
          </a:solidFill>
        </p:spPr>
        <p:txBody>
          <a:bodyPr wrap="square" lIns="63500" tIns="63500" rIns="63500" bIns="63500" rtlCol="0" anchor="ctr"/>
          <a:lstStyle/>
          <a:p>
            <a:r>
              <a:rPr lang="en-US" sz="1600" dirty="0"/>
              <a:t>The system displays patient details, health score, risk level, and suggestions in a clear format, and stores all data in Excel for easy viewing and analysis.</a:t>
            </a:r>
          </a:p>
        </p:txBody>
      </p:sp>
      <p:sp>
        <p:nvSpPr>
          <p:cNvPr id="16" name="Rectangle 5">
            <a:extLst>
              <a:ext uri="{FF2B5EF4-FFF2-40B4-BE49-F238E27FC236}">
                <a16:creationId xmlns:a16="http://schemas.microsoft.com/office/drawing/2014/main" id="{EE402755-6D8B-47FD-4054-7DD53BEBB87A}"/>
              </a:ext>
            </a:extLst>
          </p:cNvPr>
          <p:cNvSpPr>
            <a:spLocks noChangeArrowheads="1"/>
          </p:cNvSpPr>
          <p:nvPr/>
        </p:nvSpPr>
        <p:spPr bwMode="auto">
          <a:xfrm>
            <a:off x="1724297" y="2338922"/>
            <a:ext cx="39020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R="0" lvl="0" indent="0" fontAlgn="base">
              <a:lnSpc>
                <a:spcPct val="100000"/>
              </a:lnSpc>
              <a:spcBef>
                <a:spcPct val="0"/>
              </a:spcBef>
              <a:spcAft>
                <a:spcPct val="0"/>
              </a:spcAft>
              <a:buClrTx/>
              <a:buSzTx/>
              <a:buFontTx/>
              <a:buChar char="•"/>
              <a:tabLst/>
            </a:pPr>
            <a:r>
              <a:rPr lang="en-US" altLang="en-US" dirty="0">
                <a:solidFill>
                  <a:srgbClr val="002060"/>
                </a:solidFill>
              </a:rPr>
              <a:t>Shows patient report on screen </a:t>
            </a:r>
          </a:p>
          <a:p>
            <a:pPr marR="0" lvl="0" indent="0" fontAlgn="base">
              <a:lnSpc>
                <a:spcPct val="100000"/>
              </a:lnSpc>
              <a:spcBef>
                <a:spcPct val="0"/>
              </a:spcBef>
              <a:spcAft>
                <a:spcPct val="0"/>
              </a:spcAft>
              <a:buClrTx/>
              <a:buSzTx/>
              <a:buFontTx/>
              <a:buChar char="•"/>
              <a:tabLst/>
            </a:pPr>
            <a:r>
              <a:rPr lang="en-US" altLang="en-US" dirty="0">
                <a:solidFill>
                  <a:srgbClr val="002060"/>
                </a:solidFill>
              </a:rPr>
              <a:t>Displays score, risk, and suggestions </a:t>
            </a:r>
          </a:p>
          <a:p>
            <a:pPr marR="0" lvl="0" indent="0" fontAlgn="base">
              <a:lnSpc>
                <a:spcPct val="100000"/>
              </a:lnSpc>
              <a:spcBef>
                <a:spcPct val="0"/>
              </a:spcBef>
              <a:spcAft>
                <a:spcPct val="0"/>
              </a:spcAft>
              <a:buClrTx/>
              <a:buSzTx/>
              <a:buFontTx/>
              <a:buChar char="•"/>
              <a:tabLst/>
            </a:pPr>
            <a:r>
              <a:rPr lang="en-US" altLang="en-US" dirty="0">
                <a:solidFill>
                  <a:srgbClr val="002060"/>
                </a:solidFill>
              </a:rPr>
              <a:t>Stores data in Excel file </a:t>
            </a:r>
          </a:p>
          <a:p>
            <a:pPr marR="0" lvl="0" indent="0" fontAlgn="base">
              <a:lnSpc>
                <a:spcPct val="100000"/>
              </a:lnSpc>
              <a:spcBef>
                <a:spcPct val="0"/>
              </a:spcBef>
              <a:spcAft>
                <a:spcPct val="0"/>
              </a:spcAft>
              <a:buClrTx/>
              <a:buSzTx/>
              <a:buFontTx/>
              <a:buChar char="•"/>
              <a:tabLst/>
            </a:pPr>
            <a:r>
              <a:rPr lang="en-US" altLang="en-US" dirty="0">
                <a:solidFill>
                  <a:srgbClr val="002060"/>
                </a:solidFill>
              </a:rPr>
              <a:t>Data can be viewed in tabular form </a:t>
            </a:r>
          </a:p>
          <a:p>
            <a:pPr marR="0" lvl="0" indent="0" fontAlgn="base">
              <a:lnSpc>
                <a:spcPct val="100000"/>
              </a:lnSpc>
              <a:spcBef>
                <a:spcPct val="0"/>
              </a:spcBef>
              <a:spcAft>
                <a:spcPct val="0"/>
              </a:spcAft>
              <a:buClrTx/>
              <a:buSzTx/>
              <a:buFontTx/>
              <a:buChar char="•"/>
              <a:tabLst/>
            </a:pPr>
            <a:r>
              <a:rPr lang="en-US" altLang="en-US" dirty="0">
                <a:solidFill>
                  <a:srgbClr val="002060"/>
                </a:solidFill>
              </a:rPr>
              <a:t>Supports basic visualization using Excel </a:t>
            </a:r>
          </a:p>
        </p:txBody>
      </p:sp>
      <p:sp>
        <p:nvSpPr>
          <p:cNvPr id="18" name="TextBox 17">
            <a:extLst>
              <a:ext uri="{FF2B5EF4-FFF2-40B4-BE49-F238E27FC236}">
                <a16:creationId xmlns:a16="http://schemas.microsoft.com/office/drawing/2014/main" id="{10496114-9E07-2DB3-C69D-07B708F21344}"/>
              </a:ext>
            </a:extLst>
          </p:cNvPr>
          <p:cNvSpPr txBox="1"/>
          <p:nvPr/>
        </p:nvSpPr>
        <p:spPr>
          <a:xfrm>
            <a:off x="666206" y="2098096"/>
            <a:ext cx="4578530" cy="677108"/>
          </a:xfrm>
          <a:prstGeom prst="rect">
            <a:avLst/>
          </a:prstGeom>
          <a:noFill/>
        </p:spPr>
        <p:txBody>
          <a:bodyPr wrap="square">
            <a:spAutoFit/>
          </a:bodyPr>
          <a:lstStyle/>
          <a:p>
            <a:r>
              <a:rPr lang="en-US" sz="2000" dirty="0">
                <a:solidFill>
                  <a:schemeClr val="bg2"/>
                </a:solidFill>
              </a:rPr>
              <a:t>System Output and Data Visualization</a:t>
            </a:r>
          </a:p>
          <a:p>
            <a:endParaRPr lang="en-IN" dirty="0"/>
          </a:p>
        </p:txBody>
      </p:sp>
    </p:spTree>
    <p:extLst>
      <p:ext uri="{BB962C8B-B14F-4D97-AF65-F5344CB8AC3E}">
        <p14:creationId xmlns:p14="http://schemas.microsoft.com/office/powerpoint/2010/main" val="2469123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4F7"/>
        </a:solidFill>
        <a:effectLst/>
      </p:bgPr>
    </p:bg>
    <p:spTree>
      <p:nvGrpSpPr>
        <p:cNvPr id="1" name="">
          <a:extLst>
            <a:ext uri="{FF2B5EF4-FFF2-40B4-BE49-F238E27FC236}">
              <a16:creationId xmlns:a16="http://schemas.microsoft.com/office/drawing/2014/main" id="{DA0E45CF-1EF1-8697-8823-364D7B5CDB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51E44F-5953-EF28-F4E8-598C7C913558}"/>
              </a:ext>
            </a:extLst>
          </p:cNvPr>
          <p:cNvSpPr/>
          <p:nvPr/>
        </p:nvSpPr>
        <p:spPr>
          <a:xfrm>
            <a:off x="0" y="0"/>
            <a:ext cx="9144000" cy="658368"/>
          </a:xfrm>
          <a:prstGeom prst="rect">
            <a:avLst/>
          </a:prstGeom>
          <a:solidFill>
            <a:srgbClr val="0A1F2E"/>
          </a:solidFill>
        </p:spPr>
      </p:sp>
      <p:sp>
        <p:nvSpPr>
          <p:cNvPr id="3" name="Shape 1">
            <a:extLst>
              <a:ext uri="{FF2B5EF4-FFF2-40B4-BE49-F238E27FC236}">
                <a16:creationId xmlns:a16="http://schemas.microsoft.com/office/drawing/2014/main" id="{C08DE03E-B3F9-E56B-1EEB-2D779FFF4901}"/>
              </a:ext>
            </a:extLst>
          </p:cNvPr>
          <p:cNvSpPr/>
          <p:nvPr/>
        </p:nvSpPr>
        <p:spPr>
          <a:xfrm>
            <a:off x="0" y="0"/>
            <a:ext cx="228600" cy="658368"/>
          </a:xfrm>
          <a:prstGeom prst="rect">
            <a:avLst/>
          </a:prstGeom>
          <a:solidFill>
            <a:srgbClr val="FFB300"/>
          </a:solidFill>
        </p:spPr>
      </p:sp>
      <p:sp>
        <p:nvSpPr>
          <p:cNvPr id="4" name="Text 2">
            <a:extLst>
              <a:ext uri="{FF2B5EF4-FFF2-40B4-BE49-F238E27FC236}">
                <a16:creationId xmlns:a16="http://schemas.microsoft.com/office/drawing/2014/main" id="{0F8A1A64-20DC-8A51-A73B-55978B7C6D38}"/>
              </a:ext>
            </a:extLst>
          </p:cNvPr>
          <p:cNvSpPr/>
          <p:nvPr/>
        </p:nvSpPr>
        <p:spPr>
          <a:xfrm>
            <a:off x="502920" y="45720"/>
            <a:ext cx="8412480" cy="566928"/>
          </a:xfrm>
          <a:prstGeom prst="rect">
            <a:avLst/>
          </a:prstGeom>
          <a:noFill/>
        </p:spPr>
        <p:txBody>
          <a:bodyPr wrap="square" lIns="0" tIns="0" rIns="0" bIns="0" rtlCol="0" anchor="ctr"/>
          <a:lstStyle/>
          <a:p>
            <a:pPr marL="0" indent="0" algn="l">
              <a:buNone/>
            </a:pPr>
            <a:r>
              <a:rPr lang="en-US" sz="2200" b="1" dirty="0">
                <a:solidFill>
                  <a:srgbClr val="FFFFFF"/>
                </a:solidFill>
                <a:latin typeface="Trebuchet MS" panose="020B0703020202090204" pitchFamily="34" charset="0"/>
              </a:rPr>
              <a:t>LIMITATIONS</a:t>
            </a:r>
          </a:p>
        </p:txBody>
      </p:sp>
      <p:sp>
        <p:nvSpPr>
          <p:cNvPr id="5" name="Shape 3">
            <a:extLst>
              <a:ext uri="{FF2B5EF4-FFF2-40B4-BE49-F238E27FC236}">
                <a16:creationId xmlns:a16="http://schemas.microsoft.com/office/drawing/2014/main" id="{43B491CF-7A78-2EEC-AE36-4B7FE586F268}"/>
              </a:ext>
            </a:extLst>
          </p:cNvPr>
          <p:cNvSpPr/>
          <p:nvPr/>
        </p:nvSpPr>
        <p:spPr>
          <a:xfrm>
            <a:off x="0" y="4892040"/>
            <a:ext cx="9144000" cy="251460"/>
          </a:xfrm>
          <a:prstGeom prst="rect">
            <a:avLst/>
          </a:prstGeom>
          <a:solidFill>
            <a:srgbClr val="00796B"/>
          </a:solidFill>
        </p:spPr>
      </p:sp>
      <p:sp>
        <p:nvSpPr>
          <p:cNvPr id="6" name="Text 4">
            <a:extLst>
              <a:ext uri="{FF2B5EF4-FFF2-40B4-BE49-F238E27FC236}">
                <a16:creationId xmlns:a16="http://schemas.microsoft.com/office/drawing/2014/main" id="{54B62E07-EC3E-BFA5-A143-322C8A658226}"/>
              </a:ext>
            </a:extLst>
          </p:cNvPr>
          <p:cNvSpPr/>
          <p:nvPr/>
        </p:nvSpPr>
        <p:spPr>
          <a:xfrm>
            <a:off x="274320" y="4892040"/>
            <a:ext cx="8595360" cy="251460"/>
          </a:xfrm>
          <a:prstGeom prst="rect">
            <a:avLst/>
          </a:prstGeom>
          <a:noFill/>
        </p:spPr>
        <p:txBody>
          <a:bodyPr wrap="square" lIns="0" tIns="0" rIns="0" bIns="0" rtlCol="0" anchor="ctr"/>
          <a:lstStyle/>
          <a:p>
            <a:r>
              <a:rPr lang="en-US" sz="900" i="1" dirty="0">
                <a:solidFill>
                  <a:srgbClr val="FFFFFF"/>
                </a:solidFill>
                <a:latin typeface="Calibri" pitchFamily="34" charset="0"/>
                <a:ea typeface="Calibri" pitchFamily="34" charset="-122"/>
                <a:cs typeface="Calibri" pitchFamily="34" charset="-120"/>
              </a:rPr>
              <a:t>Personal Health  Monitor</a:t>
            </a:r>
          </a:p>
        </p:txBody>
      </p:sp>
      <p:sp>
        <p:nvSpPr>
          <p:cNvPr id="7" name="Text 5">
            <a:extLst>
              <a:ext uri="{FF2B5EF4-FFF2-40B4-BE49-F238E27FC236}">
                <a16:creationId xmlns:a16="http://schemas.microsoft.com/office/drawing/2014/main" id="{3917425E-B2E4-EE2C-28EE-B22EF3BB3ABA}"/>
              </a:ext>
            </a:extLst>
          </p:cNvPr>
          <p:cNvSpPr/>
          <p:nvPr/>
        </p:nvSpPr>
        <p:spPr>
          <a:xfrm>
            <a:off x="365760" y="719999"/>
            <a:ext cx="8412480" cy="1087029"/>
          </a:xfrm>
          <a:prstGeom prst="rect">
            <a:avLst/>
          </a:prstGeom>
          <a:solidFill>
            <a:srgbClr val="00796B"/>
          </a:solidFill>
        </p:spPr>
        <p:txBody>
          <a:bodyPr wrap="square" lIns="63500" tIns="63500" rIns="63500" bIns="63500" rtlCol="0" anchor="ctr"/>
          <a:lstStyle/>
          <a:p>
            <a:r>
              <a:rPr lang="en-US" sz="1600" dirty="0"/>
              <a:t>The system has some limitations as it depends on manual input, uses basic calculations, and does not provide medically accurate or real-time monitoring.</a:t>
            </a:r>
          </a:p>
        </p:txBody>
      </p:sp>
      <p:sp>
        <p:nvSpPr>
          <p:cNvPr id="18" name="TextBox 17">
            <a:extLst>
              <a:ext uri="{FF2B5EF4-FFF2-40B4-BE49-F238E27FC236}">
                <a16:creationId xmlns:a16="http://schemas.microsoft.com/office/drawing/2014/main" id="{86385005-C129-AA1C-D2A9-E7AF8A1D1425}"/>
              </a:ext>
            </a:extLst>
          </p:cNvPr>
          <p:cNvSpPr txBox="1"/>
          <p:nvPr/>
        </p:nvSpPr>
        <p:spPr>
          <a:xfrm>
            <a:off x="666206" y="2098096"/>
            <a:ext cx="4578530" cy="677108"/>
          </a:xfrm>
          <a:prstGeom prst="rect">
            <a:avLst/>
          </a:prstGeom>
          <a:noFill/>
        </p:spPr>
        <p:txBody>
          <a:bodyPr wrap="square">
            <a:spAutoFit/>
          </a:bodyPr>
          <a:lstStyle/>
          <a:p>
            <a:endParaRPr lang="en-US" sz="2000" dirty="0">
              <a:solidFill>
                <a:schemeClr val="bg2"/>
              </a:solidFill>
            </a:endParaRPr>
          </a:p>
          <a:p>
            <a:endParaRPr lang="en-IN" dirty="0"/>
          </a:p>
        </p:txBody>
      </p:sp>
      <p:sp>
        <p:nvSpPr>
          <p:cNvPr id="9" name="Rectangle 2">
            <a:extLst>
              <a:ext uri="{FF2B5EF4-FFF2-40B4-BE49-F238E27FC236}">
                <a16:creationId xmlns:a16="http://schemas.microsoft.com/office/drawing/2014/main" id="{951B2F27-2DF0-1AD8-5490-284ECD12A676}"/>
              </a:ext>
            </a:extLst>
          </p:cNvPr>
          <p:cNvSpPr>
            <a:spLocks noChangeArrowheads="1"/>
          </p:cNvSpPr>
          <p:nvPr/>
        </p:nvSpPr>
        <p:spPr bwMode="auto">
          <a:xfrm>
            <a:off x="851884" y="2433563"/>
            <a:ext cx="783150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rgbClr val="002060"/>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solidFill>
                  <a:srgbClr val="002060"/>
                </a:solidFill>
              </a:rPr>
              <a:t>The system depends on manually entered data, which may lead to errors.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solidFill>
                  <a:srgbClr val="002060"/>
                </a:solidFill>
              </a:rPr>
              <a:t>It uses basic calculations and does not provide highly accurate medical analysis.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solidFill>
                  <a:srgbClr val="002060"/>
                </a:solidFill>
              </a:rPr>
              <a:t>It does not support real-time monitoring or sensor-based data. </a:t>
            </a:r>
          </a:p>
        </p:txBody>
      </p:sp>
    </p:spTree>
    <p:extLst>
      <p:ext uri="{BB962C8B-B14F-4D97-AF65-F5344CB8AC3E}">
        <p14:creationId xmlns:p14="http://schemas.microsoft.com/office/powerpoint/2010/main" val="3431527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2E"/>
          </a:solidFill>
        </p:spPr>
      </p:sp>
      <p:sp>
        <p:nvSpPr>
          <p:cNvPr id="3" name="Shape 1"/>
          <p:cNvSpPr/>
          <p:nvPr/>
        </p:nvSpPr>
        <p:spPr>
          <a:xfrm>
            <a:off x="0" y="0"/>
            <a:ext cx="411480" cy="5143500"/>
          </a:xfrm>
          <a:prstGeom prst="rect">
            <a:avLst/>
          </a:prstGeom>
          <a:solidFill>
            <a:srgbClr val="00796B"/>
          </a:solidFill>
        </p:spPr>
      </p:sp>
      <p:sp>
        <p:nvSpPr>
          <p:cNvPr id="4" name="Shape 2"/>
          <p:cNvSpPr/>
          <p:nvPr/>
        </p:nvSpPr>
        <p:spPr>
          <a:xfrm>
            <a:off x="8732520" y="0"/>
            <a:ext cx="411480" cy="5143500"/>
          </a:xfrm>
          <a:prstGeom prst="rect">
            <a:avLst/>
          </a:prstGeom>
          <a:solidFill>
            <a:srgbClr val="FFB300"/>
          </a:solidFill>
        </p:spPr>
      </p:sp>
      <p:sp>
        <p:nvSpPr>
          <p:cNvPr id="5" name="Shape 3"/>
          <p:cNvSpPr/>
          <p:nvPr/>
        </p:nvSpPr>
        <p:spPr>
          <a:xfrm>
            <a:off x="5943600" y="-914400"/>
            <a:ext cx="4572000" cy="4572000"/>
          </a:xfrm>
          <a:prstGeom prst="ellipse">
            <a:avLst/>
          </a:prstGeom>
          <a:solidFill>
            <a:srgbClr val="00796B">
              <a:alpha val="12000"/>
            </a:srgbClr>
          </a:solidFill>
          <a:ln w="12700">
            <a:solidFill>
              <a:srgbClr val="00796B"/>
            </a:solidFill>
            <a:prstDash val="solid"/>
          </a:ln>
        </p:spPr>
      </p:sp>
      <p:sp>
        <p:nvSpPr>
          <p:cNvPr id="6" name="Shape 4"/>
          <p:cNvSpPr/>
          <p:nvPr/>
        </p:nvSpPr>
        <p:spPr>
          <a:xfrm>
            <a:off x="6858000" y="3200400"/>
            <a:ext cx="2743200" cy="2743200"/>
          </a:xfrm>
          <a:prstGeom prst="ellipse">
            <a:avLst/>
          </a:prstGeom>
          <a:solidFill>
            <a:srgbClr val="26A69A">
              <a:alpha val="12000"/>
            </a:srgbClr>
          </a:solidFill>
          <a:ln w="12700">
            <a:solidFill>
              <a:srgbClr val="26A69A"/>
            </a:solidFill>
            <a:prstDash val="solid"/>
          </a:ln>
        </p:spPr>
      </p:sp>
      <p:sp>
        <p:nvSpPr>
          <p:cNvPr id="7" name="Text 5"/>
          <p:cNvSpPr/>
          <p:nvPr/>
        </p:nvSpPr>
        <p:spPr>
          <a:xfrm>
            <a:off x="731520" y="1280160"/>
            <a:ext cx="7315200" cy="1097280"/>
          </a:xfrm>
          <a:prstGeom prst="rect">
            <a:avLst/>
          </a:prstGeom>
          <a:noFill/>
        </p:spPr>
        <p:txBody>
          <a:bodyPr wrap="square" lIns="0" tIns="0" rIns="0" bIns="0" rtlCol="0" anchor="ctr"/>
          <a:lstStyle/>
          <a:p>
            <a:pPr marL="0" indent="0">
              <a:buNone/>
            </a:pPr>
            <a:r>
              <a:rPr lang="en-US" sz="5800" b="1" kern="0" spc="600"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THANK YOU</a:t>
            </a:r>
            <a:endParaRPr lang="en-US" sz="5800" dirty="0"/>
          </a:p>
        </p:txBody>
      </p:sp>
      <p:sp>
        <p:nvSpPr>
          <p:cNvPr id="8" name="Text 6"/>
          <p:cNvSpPr/>
          <p:nvPr/>
        </p:nvSpPr>
        <p:spPr>
          <a:xfrm>
            <a:off x="731520" y="2468880"/>
            <a:ext cx="7315200" cy="502920"/>
          </a:xfrm>
          <a:prstGeom prst="rect">
            <a:avLst/>
          </a:prstGeom>
          <a:noFill/>
        </p:spPr>
        <p:txBody>
          <a:bodyPr wrap="square" lIns="0" tIns="0" rIns="0" bIns="0" rtlCol="0" anchor="ctr"/>
          <a:lstStyle/>
          <a:p>
            <a:pPr marL="0" indent="0">
              <a:buNone/>
            </a:pPr>
            <a:r>
              <a:rPr lang="en-US" sz="2000" i="1" dirty="0">
                <a:solidFill>
                  <a:srgbClr val="26A69A"/>
                </a:solidFill>
                <a:latin typeface="Calibri" pitchFamily="34" charset="0"/>
                <a:ea typeface="Calibri" pitchFamily="34" charset="-122"/>
                <a:cs typeface="Calibri" pitchFamily="34" charset="-120"/>
              </a:rPr>
              <a:t>for your attention</a:t>
            </a:r>
            <a:endParaRPr lang="en-US" sz="2000" dirty="0"/>
          </a:p>
        </p:txBody>
      </p:sp>
      <p:sp>
        <p:nvSpPr>
          <p:cNvPr id="9" name="Shape 7"/>
          <p:cNvSpPr/>
          <p:nvPr/>
        </p:nvSpPr>
        <p:spPr>
          <a:xfrm>
            <a:off x="731520" y="3063240"/>
            <a:ext cx="3200400" cy="45720"/>
          </a:xfrm>
          <a:prstGeom prst="rect">
            <a:avLst/>
          </a:prstGeom>
          <a:solidFill>
            <a:srgbClr val="FFB300"/>
          </a:solidFill>
        </p:spPr>
      </p:sp>
      <p:sp>
        <p:nvSpPr>
          <p:cNvPr id="10" name="Text 8"/>
          <p:cNvSpPr/>
          <p:nvPr/>
        </p:nvSpPr>
        <p:spPr>
          <a:xfrm>
            <a:off x="731520" y="3200400"/>
            <a:ext cx="7315200" cy="731520"/>
          </a:xfrm>
          <a:prstGeom prst="rect">
            <a:avLst/>
          </a:prstGeom>
          <a:noFill/>
        </p:spPr>
        <p:txBody>
          <a:bodyPr wrap="square" lIns="0" tIns="0" rIns="0" bIns="0" rtlCol="0" anchor="ctr"/>
          <a:lstStyle/>
          <a:p>
            <a:pPr marL="0" indent="0">
              <a:buNone/>
            </a:pPr>
            <a:r>
              <a:rPr lang="en-US" sz="1200" b="1" dirty="0">
                <a:solidFill>
                  <a:srgbClr val="FFB300"/>
                </a:solidFill>
                <a:latin typeface="Calibri" pitchFamily="34" charset="0"/>
                <a:ea typeface="Calibri" pitchFamily="34" charset="-122"/>
                <a:cs typeface="Calibri" pitchFamily="34" charset="-120"/>
              </a:rPr>
              <a:t>TEAM MEMBERS
</a:t>
            </a:r>
            <a:endParaRPr lang="en-US" sz="1200" dirty="0"/>
          </a:p>
          <a:p>
            <a:pPr marL="0" indent="0">
              <a:buNone/>
            </a:pPr>
            <a:r>
              <a:rPr lang="en-US" sz="1100" dirty="0">
                <a:solidFill>
                  <a:srgbClr val="B0BEC5"/>
                </a:solidFill>
                <a:latin typeface="Calibri" pitchFamily="34" charset="0"/>
                <a:ea typeface="Calibri" pitchFamily="34" charset="-122"/>
                <a:cs typeface="Calibri" pitchFamily="34" charset="-120"/>
              </a:rPr>
              <a:t> </a:t>
            </a:r>
            <a:r>
              <a:rPr lang="en-US" sz="1200" dirty="0" err="1">
                <a:solidFill>
                  <a:srgbClr val="B0BEC5"/>
                </a:solidFill>
                <a:latin typeface="Calibri" pitchFamily="34" charset="0"/>
                <a:ea typeface="Calibri" pitchFamily="34" charset="-122"/>
                <a:cs typeface="Calibri" pitchFamily="34" charset="-120"/>
              </a:rPr>
              <a:t>Pradeeshwaran</a:t>
            </a:r>
            <a:r>
              <a:rPr lang="en-US" sz="1200" dirty="0">
                <a:solidFill>
                  <a:srgbClr val="B0BEC5"/>
                </a:solidFill>
                <a:latin typeface="Calibri" pitchFamily="34" charset="0"/>
                <a:ea typeface="Calibri" pitchFamily="34" charset="-122"/>
                <a:cs typeface="Calibri" pitchFamily="34" charset="-120"/>
              </a:rPr>
              <a:t> R| Gokul Krishnan  </a:t>
            </a:r>
            <a:endParaRPr lang="en-US" sz="1200" dirty="0"/>
          </a:p>
        </p:txBody>
      </p:sp>
      <p:sp>
        <p:nvSpPr>
          <p:cNvPr id="11" name="Text 9"/>
          <p:cNvSpPr/>
          <p:nvPr/>
        </p:nvSpPr>
        <p:spPr>
          <a:xfrm>
            <a:off x="731520" y="4114800"/>
            <a:ext cx="7315200" cy="365760"/>
          </a:xfrm>
          <a:prstGeom prst="rect">
            <a:avLst/>
          </a:prstGeom>
          <a:noFill/>
        </p:spPr>
        <p:txBody>
          <a:bodyPr wrap="square" lIns="0" tIns="0" rIns="0" bIns="0" rtlCol="0" anchor="ctr"/>
          <a:lstStyle/>
          <a:p>
            <a:r>
              <a:rPr lang="en-US" sz="1100" dirty="0">
                <a:solidFill>
                  <a:srgbClr val="B0BEC5"/>
                </a:solidFill>
                <a:latin typeface="Calibri" pitchFamily="34" charset="0"/>
                <a:ea typeface="Calibri" pitchFamily="34" charset="-122"/>
                <a:cs typeface="Calibri" pitchFamily="34" charset="-120"/>
              </a:rPr>
              <a:t>Personal Health  Monitor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228</TotalTime>
  <Words>1075</Words>
  <Application>Microsoft Office PowerPoint</Application>
  <PresentationFormat>On-screen Show (16:9)</PresentationFormat>
  <Paragraphs>159</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Trebuchet MS</vt:lpstr>
      <vt:lpstr>Tw Cen MT</vt:lpstr>
      <vt:lpstr>Tw Cen MT (Body)</vt:lpstr>
      <vt:lpstr>Wingdings</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Multimeridian Relief Belt</dc:title>
  <dc:subject>PptxGenJS Presentation</dc:subject>
  <dc:creator>PptxGenJS</dc:creator>
  <cp:lastModifiedBy>pradeesh R</cp:lastModifiedBy>
  <cp:revision>18</cp:revision>
  <dcterms:created xsi:type="dcterms:W3CDTF">2026-04-15T17:31:39Z</dcterms:created>
  <dcterms:modified xsi:type="dcterms:W3CDTF">2026-07-04T10:50:27Z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411B3E10AD27C5342A90DF698B6566D6_43</vt:lpwstr>
  </property>
  <property fmtid="{D5CDD505-2E9C-101B-9397-08002B2CF9AE}" pid="3" name="KSOProductBuildVer">
    <vt:lpwstr>1033-12.1.23155.23155</vt:lpwstr>
  </property>
</Properties>
</file>